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56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Scheme Count</c:v>
                </c:pt>
              </c:strCache>
            </c:strRef>
          </c:tx>
          <c:spPr>
            <a:solidFill>
              <a:srgbClr val="0B2D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Liquid</c:v>
                </c:pt>
                <c:pt idx="4">
                  <c:v>Index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5-4054-968E-1DCF07F329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D0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Inflows (Cr)</c:v>
                </c:pt>
              </c:strCache>
            </c:strRef>
          </c:tx>
          <c:spPr>
            <a:ln w="25400" cap="flat">
              <a:solidFill>
                <a:srgbClr val="1E5A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5AA8"/>
              </a:solidFill>
              <a:ln w="9525" cap="flat">
                <a:solidFill>
                  <a:srgbClr val="1E5AA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8500</c:v>
                </c:pt>
                <c:pt idx="1">
                  <c:v>9200</c:v>
                </c:pt>
                <c:pt idx="2">
                  <c:v>10100</c:v>
                </c:pt>
                <c:pt idx="3">
                  <c:v>9800</c:v>
                </c:pt>
                <c:pt idx="4">
                  <c:v>11200</c:v>
                </c:pt>
                <c:pt idx="5">
                  <c:v>12500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C4E-434A-B3BE-CC3E71ED21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D0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5E-4447-A733-F8830FBE2246}"/>
              </c:ext>
            </c:extLst>
          </c:dPt>
          <c:dPt>
            <c:idx val="1"/>
            <c:bubble3D val="0"/>
            <c:spPr>
              <a:solidFill>
                <a:srgbClr val="1E5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5E-4447-A733-F8830FBE2246}"/>
              </c:ext>
            </c:extLst>
          </c:dPt>
          <c:dPt>
            <c:idx val="2"/>
            <c:bubble3D val="0"/>
            <c:spPr>
              <a:solidFill>
                <a:srgbClr val="4A8B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5E-4447-A733-F8830FBE2246}"/>
              </c:ext>
            </c:extLst>
          </c:dPt>
          <c:dPt>
            <c:idx val="3"/>
            <c:bubble3D val="0"/>
            <c:spPr>
              <a:solidFill>
                <a:srgbClr val="8BB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5E-4447-A733-F8830FBE2246}"/>
              </c:ext>
            </c:extLst>
          </c:dPt>
          <c:dPt>
            <c:idx val="4"/>
            <c:bubble3D val="0"/>
            <c:spPr>
              <a:solidFill>
                <a:srgbClr val="C8D0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5E-4447-A733-F8830FBE2246}"/>
              </c:ext>
            </c:extLst>
          </c:dPt>
          <c:dPt>
            <c:idx val="5"/>
            <c:bubble3D val="0"/>
            <c:spPr>
              <a:solidFill>
                <a:srgbClr val="7A8B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35E-4447-A733-F8830FBE224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5E-4447-A733-F8830FBE224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5E-4447-A733-F8830FBE224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5E-4447-A733-F8830FBE224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5E-4447-A733-F8830FBE224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5E-4447-A733-F8830FBE2246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35E-4447-A733-F8830FBE224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Maharashtra</c:v>
                </c:pt>
                <c:pt idx="1">
                  <c:v>Karnataka</c:v>
                </c:pt>
                <c:pt idx="2">
                  <c:v>Delhi NCR</c:v>
                </c:pt>
                <c:pt idx="3">
                  <c:v>Tamil Nadu</c:v>
                </c:pt>
                <c:pt idx="4">
                  <c:v>Gujarat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35E-4447-A733-F8830FBE2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98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"/>
            <a:ext cx="8128000" cy="90678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4765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Bluestock Mutual Fund Analytics Capstone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89000" y="4826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Analytics and Business Intelligence for Mutual Fund Decision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9000" y="5588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889000" y="577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Presented by </a:t>
            </a: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ROHIT J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Bluestock Internship 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05329" y="2286000"/>
            <a:ext cx="6627341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A0A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ANALYTICS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10668000" y="4318000"/>
            <a:ext cx="2540000" cy="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398000" y="469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Integrating data engineering, financial analytics, and business intelligence for comprehensive mutual fund decision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06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22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38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954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1E5AA8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Investors face significant challenges navigating the complex mutual fund landscape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143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143000"/>
            <a:ext cx="4699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7" name="Shape 5"/>
          <p:cNvSpPr/>
          <p:nvPr/>
        </p:nvSpPr>
        <p:spPr>
          <a:xfrm>
            <a:off x="8890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9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Overload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9000" y="2603500"/>
            <a:ext cx="419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Investors struggle to choose suitable mutual funds due to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volumes of financial information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scattered across multiple sources.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absence of a unified analytical framework forces investors to rely on fragmented data points, increasing decision fatigue and suboptimal allocation.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1143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8500" y="1143000"/>
            <a:ext cx="4699000" cy="6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25628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5983"/>
                  <a:pt x="308134" y="16699"/>
                </a:cubicBezTo>
                <a:lnTo>
                  <a:pt x="434935" y="111889"/>
                </a:lnTo>
                <a:cubicBezTo>
                  <a:pt x="449223" y="122605"/>
                  <a:pt x="457200" y="137160"/>
                  <a:pt x="457200" y="152340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47650" y="52239"/>
                </a:moveTo>
                <a:lnTo>
                  <a:pt x="247650" y="135731"/>
                </a:lnTo>
                <a:cubicBezTo>
                  <a:pt x="247650" y="147608"/>
                  <a:pt x="260390" y="157163"/>
                  <a:pt x="276225" y="157163"/>
                </a:cubicBezTo>
                <a:lnTo>
                  <a:pt x="387548" y="157163"/>
                </a:lnTo>
                <a:lnTo>
                  <a:pt x="247650" y="52239"/>
                </a:lnTo>
                <a:close/>
                <a:moveTo>
                  <a:pt x="142875" y="228600"/>
                </a:moveTo>
                <a:cubicBezTo>
                  <a:pt x="127040" y="228600"/>
                  <a:pt x="114300" y="238155"/>
                  <a:pt x="114300" y="250031"/>
                </a:cubicBezTo>
                <a:cubicBezTo>
                  <a:pt x="114300" y="261908"/>
                  <a:pt x="127040" y="271463"/>
                  <a:pt x="142875" y="271463"/>
                </a:cubicBezTo>
                <a:lnTo>
                  <a:pt x="314325" y="271463"/>
                </a:lnTo>
                <a:cubicBezTo>
                  <a:pt x="330160" y="271463"/>
                  <a:pt x="342900" y="261908"/>
                  <a:pt x="342900" y="250031"/>
                </a:cubicBezTo>
                <a:cubicBezTo>
                  <a:pt x="342900" y="238155"/>
                  <a:pt x="330160" y="228600"/>
                  <a:pt x="314325" y="228600"/>
                </a:cubicBezTo>
                <a:lnTo>
                  <a:pt x="142875" y="228600"/>
                </a:lnTo>
                <a:close/>
                <a:moveTo>
                  <a:pt x="142875" y="314325"/>
                </a:moveTo>
                <a:cubicBezTo>
                  <a:pt x="127040" y="314325"/>
                  <a:pt x="114300" y="323880"/>
                  <a:pt x="114300" y="335756"/>
                </a:cubicBezTo>
                <a:cubicBezTo>
                  <a:pt x="114300" y="347633"/>
                  <a:pt x="127040" y="357188"/>
                  <a:pt x="142875" y="357188"/>
                </a:cubicBezTo>
                <a:lnTo>
                  <a:pt x="314325" y="357188"/>
                </a:lnTo>
                <a:cubicBezTo>
                  <a:pt x="330160" y="357188"/>
                  <a:pt x="342900" y="347633"/>
                  <a:pt x="342900" y="335756"/>
                </a:cubicBezTo>
                <a:cubicBezTo>
                  <a:pt x="342900" y="323880"/>
                  <a:pt x="330160" y="314325"/>
                  <a:pt x="314325" y="314325"/>
                </a:cubicBezTo>
                <a:lnTo>
                  <a:pt x="142875" y="314325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09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Fragmented Reporting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2500" y="2603500"/>
            <a:ext cx="419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reporting approaches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 to integrate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analysis, investor behavior, and risk insights into a cohesive view.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Siloed analytics prevent stakeholders from understanding the complete picture of fund health and investor sentiment.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22000" y="1143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2000" y="1143000"/>
            <a:ext cx="4699000" cy="6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76000" y="146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2095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8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Need for Analytics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0" y="2603500"/>
            <a:ext cx="4191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is a critical need for a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analytics framework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supports data-driven investment decisions.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integrated BI solution combining risk metrics, cohort analysis, and recommendation engines can transform decision-making.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Internship Program, Capstone Research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Eight strategic objectives drive the analytics framework from data to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1333500"/>
            <a:ext cx="508000" cy="508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33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24000" y="13335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 Pipeline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9000" y="2032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robust Extract-Transform-Load pipelines for multiple mutual fund datasets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9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4556" y="166757"/>
                </a:moveTo>
                <a:cubicBezTo>
                  <a:pt x="322332" y="165924"/>
                  <a:pt x="311706" y="175091"/>
                  <a:pt x="310803" y="187385"/>
                </a:cubicBezTo>
                <a:cubicBezTo>
                  <a:pt x="308511" y="220028"/>
                  <a:pt x="294412" y="249476"/>
                  <a:pt x="272742" y="271423"/>
                </a:cubicBezTo>
                <a:lnTo>
                  <a:pt x="250726" y="249337"/>
                </a:lnTo>
                <a:cubicBezTo>
                  <a:pt x="245934" y="244544"/>
                  <a:pt x="238780" y="243155"/>
                  <a:pt x="232529" y="245725"/>
                </a:cubicBezTo>
                <a:cubicBezTo>
                  <a:pt x="226278" y="248295"/>
                  <a:pt x="222250" y="254407"/>
                  <a:pt x="222250" y="261144"/>
                </a:cubicBezTo>
                <a:lnTo>
                  <a:pt x="222250" y="338931"/>
                </a:lnTo>
                <a:cubicBezTo>
                  <a:pt x="222250" y="348169"/>
                  <a:pt x="229681" y="355600"/>
                  <a:pt x="238919" y="355600"/>
                </a:cubicBezTo>
                <a:lnTo>
                  <a:pt x="316706" y="355600"/>
                </a:lnTo>
                <a:cubicBezTo>
                  <a:pt x="323443" y="355600"/>
                  <a:pt x="329555" y="351572"/>
                  <a:pt x="332125" y="345321"/>
                </a:cubicBezTo>
                <a:cubicBezTo>
                  <a:pt x="334695" y="339070"/>
                  <a:pt x="333306" y="331916"/>
                  <a:pt x="328513" y="327124"/>
                </a:cubicBezTo>
                <a:lnTo>
                  <a:pt x="304205" y="302816"/>
                </a:lnTo>
                <a:cubicBezTo>
                  <a:pt x="333167" y="273506"/>
                  <a:pt x="352058" y="234196"/>
                  <a:pt x="355183" y="190440"/>
                </a:cubicBezTo>
                <a:cubicBezTo>
                  <a:pt x="356017" y="178217"/>
                  <a:pt x="346849" y="167590"/>
                  <a:pt x="334556" y="166688"/>
                </a:cubicBezTo>
                <a:close/>
                <a:moveTo>
                  <a:pt x="27087" y="28476"/>
                </a:moveTo>
                <a:lnTo>
                  <a:pt x="51395" y="52784"/>
                </a:lnTo>
                <a:cubicBezTo>
                  <a:pt x="22433" y="82094"/>
                  <a:pt x="3542" y="121404"/>
                  <a:pt x="417" y="165160"/>
                </a:cubicBezTo>
                <a:cubicBezTo>
                  <a:pt x="-417" y="177383"/>
                  <a:pt x="8751" y="188010"/>
                  <a:pt x="21044" y="188913"/>
                </a:cubicBezTo>
                <a:cubicBezTo>
                  <a:pt x="33337" y="189815"/>
                  <a:pt x="43894" y="180578"/>
                  <a:pt x="44797" y="168285"/>
                </a:cubicBezTo>
                <a:cubicBezTo>
                  <a:pt x="47089" y="135642"/>
                  <a:pt x="61188" y="106194"/>
                  <a:pt x="82858" y="84247"/>
                </a:cubicBezTo>
                <a:lnTo>
                  <a:pt x="104874" y="106263"/>
                </a:lnTo>
                <a:cubicBezTo>
                  <a:pt x="109666" y="111056"/>
                  <a:pt x="116820" y="112445"/>
                  <a:pt x="123071" y="109875"/>
                </a:cubicBezTo>
                <a:cubicBezTo>
                  <a:pt x="129322" y="107305"/>
                  <a:pt x="133350" y="101193"/>
                  <a:pt x="133350" y="94456"/>
                </a:cubicBezTo>
                <a:lnTo>
                  <a:pt x="133350" y="16669"/>
                </a:lnTo>
                <a:cubicBezTo>
                  <a:pt x="133350" y="7431"/>
                  <a:pt x="125919" y="0"/>
                  <a:pt x="116681" y="0"/>
                </a:cubicBezTo>
                <a:lnTo>
                  <a:pt x="38894" y="0"/>
                </a:lnTo>
                <a:cubicBezTo>
                  <a:pt x="32157" y="0"/>
                  <a:pt x="26045" y="4028"/>
                  <a:pt x="23475" y="10279"/>
                </a:cubicBezTo>
                <a:cubicBezTo>
                  <a:pt x="20905" y="16530"/>
                  <a:pt x="22364" y="23684"/>
                  <a:pt x="27087" y="28476"/>
                </a:cubicBezTo>
                <a:close/>
                <a:moveTo>
                  <a:pt x="166688" y="21044"/>
                </a:moveTo>
                <a:cubicBezTo>
                  <a:pt x="165854" y="33268"/>
                  <a:pt x="175022" y="43894"/>
                  <a:pt x="187315" y="44797"/>
                </a:cubicBezTo>
                <a:cubicBezTo>
                  <a:pt x="219958" y="47089"/>
                  <a:pt x="249406" y="61188"/>
                  <a:pt x="271353" y="82858"/>
                </a:cubicBezTo>
                <a:lnTo>
                  <a:pt x="249337" y="104874"/>
                </a:lnTo>
                <a:cubicBezTo>
                  <a:pt x="244544" y="109666"/>
                  <a:pt x="243155" y="116820"/>
                  <a:pt x="245725" y="123071"/>
                </a:cubicBezTo>
                <a:cubicBezTo>
                  <a:pt x="248295" y="129322"/>
                  <a:pt x="254407" y="133350"/>
                  <a:pt x="261144" y="133350"/>
                </a:cubicBez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38894"/>
                </a:lnTo>
                <a:cubicBezTo>
                  <a:pt x="355600" y="32157"/>
                  <a:pt x="351572" y="26045"/>
                  <a:pt x="345321" y="23475"/>
                </a:cubicBezTo>
                <a:cubicBezTo>
                  <a:pt x="339070" y="20905"/>
                  <a:pt x="331916" y="22364"/>
                  <a:pt x="327124" y="27087"/>
                </a:cubicBezTo>
                <a:lnTo>
                  <a:pt x="302816" y="51395"/>
                </a:lnTo>
                <a:cubicBezTo>
                  <a:pt x="273506" y="22433"/>
                  <a:pt x="234196" y="3542"/>
                  <a:pt x="190440" y="417"/>
                </a:cubicBezTo>
                <a:cubicBezTo>
                  <a:pt x="178217" y="-417"/>
                  <a:pt x="167590" y="8751"/>
                  <a:pt x="166688" y="21044"/>
                </a:cubicBezTo>
                <a:close/>
                <a:moveTo>
                  <a:pt x="28476" y="328513"/>
                </a:moveTo>
                <a:lnTo>
                  <a:pt x="52784" y="304205"/>
                </a:lnTo>
                <a:cubicBezTo>
                  <a:pt x="82094" y="333167"/>
                  <a:pt x="121404" y="352058"/>
                  <a:pt x="165160" y="355183"/>
                </a:cubicBezTo>
                <a:cubicBezTo>
                  <a:pt x="177383" y="356017"/>
                  <a:pt x="188010" y="346849"/>
                  <a:pt x="188913" y="334556"/>
                </a:cubicBezTo>
                <a:cubicBezTo>
                  <a:pt x="189815" y="322263"/>
                  <a:pt x="180578" y="311706"/>
                  <a:pt x="168285" y="310803"/>
                </a:cubicBezTo>
                <a:cubicBezTo>
                  <a:pt x="135642" y="308511"/>
                  <a:pt x="106194" y="294412"/>
                  <a:pt x="84247" y="272742"/>
                </a:cubicBezTo>
                <a:lnTo>
                  <a:pt x="106263" y="250726"/>
                </a:lnTo>
                <a:cubicBezTo>
                  <a:pt x="111056" y="245934"/>
                  <a:pt x="112445" y="238780"/>
                  <a:pt x="109875" y="232529"/>
                </a:cubicBezTo>
                <a:cubicBezTo>
                  <a:pt x="107305" y="226278"/>
                  <a:pt x="101193" y="222250"/>
                  <a:pt x="94456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16706"/>
                </a:lnTo>
                <a:cubicBezTo>
                  <a:pt x="0" y="323443"/>
                  <a:pt x="4028" y="329555"/>
                  <a:pt x="10279" y="332125"/>
                </a:cubicBezTo>
                <a:cubicBezTo>
                  <a:pt x="16530" y="334695"/>
                  <a:pt x="23684" y="333236"/>
                  <a:pt x="28476" y="328513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1" name="Shape 9"/>
          <p:cNvSpPr/>
          <p:nvPr/>
        </p:nvSpPr>
        <p:spPr>
          <a:xfrm>
            <a:off x="4508500" y="1079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62500" y="1333500"/>
            <a:ext cx="508000" cy="508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500" y="133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7500" y="13335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2500" y="2032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 patterns, trends, and anomalies across fund categories and investor segments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625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079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6000" y="1333500"/>
            <a:ext cx="508000" cy="508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133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71000" y="13335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Evaluation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36000" y="2032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 fund performance using Sharpe Ratio, Alpha, Beta, and Sortino Ratio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36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100013" y="155575"/>
                </a:moveTo>
                <a:cubicBezTo>
                  <a:pt x="112306" y="155575"/>
                  <a:pt x="122238" y="165507"/>
                  <a:pt x="122238" y="177800"/>
                </a:cubicBezTo>
                <a:lnTo>
                  <a:pt x="122238" y="222250"/>
                </a:lnTo>
                <a:cubicBezTo>
                  <a:pt x="122238" y="234543"/>
                  <a:pt x="112306" y="244475"/>
                  <a:pt x="100013" y="244475"/>
                </a:cubicBezTo>
                <a:cubicBezTo>
                  <a:pt x="87719" y="244475"/>
                  <a:pt x="77788" y="234543"/>
                  <a:pt x="77788" y="222250"/>
                </a:cubicBezTo>
                <a:lnTo>
                  <a:pt x="77788" y="177800"/>
                </a:lnTo>
                <a:cubicBezTo>
                  <a:pt x="77788" y="165507"/>
                  <a:pt x="87719" y="155575"/>
                  <a:pt x="100013" y="155575"/>
                </a:cubicBezTo>
                <a:close/>
                <a:moveTo>
                  <a:pt x="200025" y="111125"/>
                </a:moveTo>
                <a:lnTo>
                  <a:pt x="200025" y="222250"/>
                </a:lnTo>
                <a:cubicBezTo>
                  <a:pt x="200025" y="234543"/>
                  <a:pt x="190093" y="244475"/>
                  <a:pt x="177800" y="244475"/>
                </a:cubicBezTo>
                <a:cubicBezTo>
                  <a:pt x="165507" y="244475"/>
                  <a:pt x="155575" y="234543"/>
                  <a:pt x="155575" y="222250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55587" y="133350"/>
                </a:moveTo>
                <a:cubicBezTo>
                  <a:pt x="267881" y="133350"/>
                  <a:pt x="277813" y="143282"/>
                  <a:pt x="277813" y="155575"/>
                </a:cubicBezTo>
                <a:lnTo>
                  <a:pt x="277813" y="222250"/>
                </a:lnTo>
                <a:cubicBezTo>
                  <a:pt x="277813" y="234543"/>
                  <a:pt x="267881" y="244475"/>
                  <a:pt x="255587" y="244475"/>
                </a:cubicBezTo>
                <a:cubicBezTo>
                  <a:pt x="243294" y="244475"/>
                  <a:pt x="233363" y="234543"/>
                  <a:pt x="233363" y="222250"/>
                </a:cubicBezTo>
                <a:lnTo>
                  <a:pt x="233363" y="155575"/>
                </a:lnTo>
                <a:cubicBezTo>
                  <a:pt x="233363" y="143282"/>
                  <a:pt x="243294" y="133350"/>
                  <a:pt x="255587" y="133350"/>
                </a:cubicBezTo>
                <a:close/>
                <a:moveTo>
                  <a:pt x="355600" y="66675"/>
                </a:moveTo>
                <a:lnTo>
                  <a:pt x="355600" y="222250"/>
                </a:lnTo>
                <a:cubicBezTo>
                  <a:pt x="355600" y="234543"/>
                  <a:pt x="345668" y="244475"/>
                  <a:pt x="333375" y="244475"/>
                </a:cubicBezTo>
                <a:cubicBezTo>
                  <a:pt x="321082" y="244475"/>
                  <a:pt x="311150" y="234543"/>
                  <a:pt x="311150" y="222250"/>
                </a:cubicBezTo>
                <a:lnTo>
                  <a:pt x="311150" y="66675"/>
                </a:lnTo>
                <a:cubicBezTo>
                  <a:pt x="311150" y="54382"/>
                  <a:pt x="321082" y="44450"/>
                  <a:pt x="333375" y="44450"/>
                </a:cubicBezTo>
                <a:cubicBezTo>
                  <a:pt x="345668" y="44450"/>
                  <a:pt x="355600" y="54382"/>
                  <a:pt x="355600" y="66675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5500" y="10795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09500" y="1333500"/>
            <a:ext cx="508000" cy="508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25" name="Text 23"/>
          <p:cNvSpPr/>
          <p:nvPr/>
        </p:nvSpPr>
        <p:spPr>
          <a:xfrm>
            <a:off x="12509500" y="133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144500" y="13335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Metrics (VaR/CVaR)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509500" y="2032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Value at Risk and Conditional Value at Risk for downside risk assessment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095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000" y="46990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9000" y="4953000"/>
            <a:ext cx="508000" cy="508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24000" y="49530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Cohort &amp; SIP Analysis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9000" y="56515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investor cohorts and Systematic Investment Plan continuity patterns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90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35" name="Shape 33"/>
          <p:cNvSpPr/>
          <p:nvPr/>
        </p:nvSpPr>
        <p:spPr>
          <a:xfrm>
            <a:off x="4508500" y="46990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62500" y="4953000"/>
            <a:ext cx="508000" cy="508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37" name="Text 35"/>
          <p:cNvSpPr/>
          <p:nvPr/>
        </p:nvSpPr>
        <p:spPr>
          <a:xfrm>
            <a:off x="47625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97500" y="49530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62500" y="56515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 fund recommendation engine based on investor risk appetite and goals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62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2000" y="46990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4953000"/>
            <a:ext cx="508000" cy="508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43" name="Text 41"/>
          <p:cNvSpPr/>
          <p:nvPr/>
        </p:nvSpPr>
        <p:spPr>
          <a:xfrm>
            <a:off x="86360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271000" y="49530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HHI Concentration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36000" y="56515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 portfolio concentration risk using the Herfindahl-Hirschman Index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360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47" name="Shape 45"/>
          <p:cNvSpPr/>
          <p:nvPr/>
        </p:nvSpPr>
        <p:spPr>
          <a:xfrm>
            <a:off x="12255500" y="4699000"/>
            <a:ext cx="34925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509500" y="4953000"/>
            <a:ext cx="508000" cy="508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49" name="Text 47"/>
          <p:cNvSpPr/>
          <p:nvPr/>
        </p:nvSpPr>
        <p:spPr>
          <a:xfrm>
            <a:off x="125095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144500" y="49530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 Dashboards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509500" y="56515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interactive Power BI dashboards for real-time decision support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2509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166688" y="66675"/>
                </a:moveTo>
                <a:cubicBezTo>
                  <a:pt x="171341" y="66675"/>
                  <a:pt x="175786" y="68620"/>
                  <a:pt x="178981" y="72092"/>
                </a:cubicBezTo>
                <a:lnTo>
                  <a:pt x="228362" y="125919"/>
                </a:lnTo>
                <a:lnTo>
                  <a:pt x="260449" y="93762"/>
                </a:lnTo>
                <a:cubicBezTo>
                  <a:pt x="266978" y="87233"/>
                  <a:pt x="277535" y="87233"/>
                  <a:pt x="283994" y="93762"/>
                </a:cubicBezTo>
                <a:lnTo>
                  <a:pt x="328444" y="138212"/>
                </a:lnTo>
                <a:cubicBezTo>
                  <a:pt x="331569" y="141337"/>
                  <a:pt x="333306" y="145574"/>
                  <a:pt x="333306" y="150019"/>
                </a:cubicBezTo>
                <a:lnTo>
                  <a:pt x="333306" y="227806"/>
                </a:lnTo>
                <a:cubicBezTo>
                  <a:pt x="333306" y="237044"/>
                  <a:pt x="325874" y="244475"/>
                  <a:pt x="316637" y="244475"/>
                </a:cubicBezTo>
                <a:lnTo>
                  <a:pt x="105499" y="244475"/>
                </a:lnTo>
                <a:cubicBezTo>
                  <a:pt x="96262" y="244475"/>
                  <a:pt x="88831" y="237044"/>
                  <a:pt x="88831" y="227806"/>
                </a:cubicBezTo>
                <a:lnTo>
                  <a:pt x="88831" y="150019"/>
                </a:lnTo>
                <a:cubicBezTo>
                  <a:pt x="88831" y="145852"/>
                  <a:pt x="90428" y="141823"/>
                  <a:pt x="93206" y="138767"/>
                </a:cubicBezTo>
                <a:lnTo>
                  <a:pt x="154325" y="72092"/>
                </a:lnTo>
                <a:cubicBezTo>
                  <a:pt x="157450" y="68620"/>
                  <a:pt x="161965" y="66675"/>
                  <a:pt x="166618" y="66675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53" name="Shape 51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635000" y="84455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Capstone Project Scope Document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Eight data sources and seven technologies power the analytics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07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5000" y="1524000"/>
            <a:ext cx="2540000" cy="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none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714500"/>
          <a:ext cx="7112000" cy="6223004"/>
        </p:xfrm>
        <a:graphic>
          <a:graphicData uri="http://schemas.openxmlformats.org/drawingml/2006/table">
            <a:tbl>
              <a:tblPr/>
              <a:tblGrid>
                <a:gridCol w="35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Source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Fund Master Data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Scheme details, categories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NAV History Data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Net asset value trends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Scheme Performance Data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Returns, rankings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Investor Transactions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Buy, sell, switch flows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Monthly SIP Inflows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Systematic investment data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Benchmark Indices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Nifty, Sensex, etc.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Portfolio Holdings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Stock/sector allocation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0088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Industry Folio Count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Investor account metrics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82000" y="107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Technologies Used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382000" y="1524000"/>
            <a:ext cx="2540000" cy="0"/>
          </a:xfrm>
          <a:prstGeom prst="straightConnector1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8382000" y="187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91" y="139254"/>
                </a:moveTo>
                <a:cubicBezTo>
                  <a:pt x="342979" y="117793"/>
                  <a:pt x="331391" y="101610"/>
                  <a:pt x="306705" y="101610"/>
                </a:cubicBezTo>
                <a:lnTo>
                  <a:pt x="274876" y="101610"/>
                </a:lnTo>
                <a:lnTo>
                  <a:pt x="274876" y="134531"/>
                </a:lnTo>
                <a:cubicBezTo>
                  <a:pt x="274876" y="160089"/>
                  <a:pt x="250111" y="181620"/>
                  <a:pt x="221853" y="181620"/>
                </a:cubicBezTo>
                <a:lnTo>
                  <a:pt x="137081" y="181620"/>
                </a:lnTo>
                <a:cubicBezTo>
                  <a:pt x="113903" y="181620"/>
                  <a:pt x="94694" y="198983"/>
                  <a:pt x="94694" y="219333"/>
                </a:cubicBezTo>
                <a:lnTo>
                  <a:pt x="94694" y="290036"/>
                </a:lnTo>
                <a:cubicBezTo>
                  <a:pt x="94694" y="310178"/>
                  <a:pt x="114697" y="321985"/>
                  <a:pt x="137081" y="327749"/>
                </a:cubicBezTo>
                <a:cubicBezTo>
                  <a:pt x="163909" y="334625"/>
                  <a:pt x="189706" y="335875"/>
                  <a:pt x="221853" y="327749"/>
                </a:cubicBezTo>
                <a:cubicBezTo>
                  <a:pt x="243205" y="322332"/>
                  <a:pt x="264239" y="311428"/>
                  <a:pt x="264239" y="290036"/>
                </a:cubicBezTo>
                <a:lnTo>
                  <a:pt x="264239" y="261769"/>
                </a:lnTo>
                <a:lnTo>
                  <a:pt x="179546" y="261769"/>
                </a:lnTo>
                <a:lnTo>
                  <a:pt x="179546" y="252323"/>
                </a:lnTo>
                <a:lnTo>
                  <a:pt x="306705" y="252323"/>
                </a:lnTo>
                <a:cubicBezTo>
                  <a:pt x="331391" y="252323"/>
                  <a:pt x="340519" y="237252"/>
                  <a:pt x="349091" y="214680"/>
                </a:cubicBezTo>
                <a:cubicBezTo>
                  <a:pt x="357981" y="191413"/>
                  <a:pt x="357584" y="169049"/>
                  <a:pt x="349091" y="139254"/>
                </a:cubicBezTo>
                <a:close/>
                <a:moveTo>
                  <a:pt x="227171" y="308858"/>
                </a:moveTo>
                <a:cubicBezTo>
                  <a:pt x="221130" y="309229"/>
                  <a:pt x="215357" y="306619"/>
                  <a:pt x="212208" y="302093"/>
                </a:cubicBezTo>
                <a:cubicBezTo>
                  <a:pt x="209058" y="297567"/>
                  <a:pt x="209058" y="291882"/>
                  <a:pt x="212208" y="287356"/>
                </a:cubicBezTo>
                <a:cubicBezTo>
                  <a:pt x="215357" y="282830"/>
                  <a:pt x="221130" y="280220"/>
                  <a:pt x="227171" y="280591"/>
                </a:cubicBezTo>
                <a:cubicBezTo>
                  <a:pt x="233212" y="280220"/>
                  <a:pt x="238985" y="282830"/>
                  <a:pt x="242135" y="287356"/>
                </a:cubicBezTo>
                <a:cubicBezTo>
                  <a:pt x="245284" y="291882"/>
                  <a:pt x="245284" y="297567"/>
                  <a:pt x="242135" y="302093"/>
                </a:cubicBezTo>
                <a:cubicBezTo>
                  <a:pt x="238985" y="306619"/>
                  <a:pt x="233212" y="309229"/>
                  <a:pt x="227171" y="308858"/>
                </a:cubicBezTo>
                <a:close/>
                <a:moveTo>
                  <a:pt x="133191" y="172313"/>
                </a:moveTo>
                <a:lnTo>
                  <a:pt x="217964" y="172313"/>
                </a:lnTo>
                <a:cubicBezTo>
                  <a:pt x="241538" y="172313"/>
                  <a:pt x="260350" y="155297"/>
                  <a:pt x="260350" y="134600"/>
                </a:cubicBezTo>
                <a:lnTo>
                  <a:pt x="260350" y="63827"/>
                </a:lnTo>
                <a:cubicBezTo>
                  <a:pt x="260350" y="43686"/>
                  <a:pt x="240983" y="28615"/>
                  <a:pt x="217964" y="25211"/>
                </a:cubicBezTo>
                <a:cubicBezTo>
                  <a:pt x="189548" y="21114"/>
                  <a:pt x="158671" y="21322"/>
                  <a:pt x="133191" y="25281"/>
                </a:cubicBezTo>
                <a:cubicBezTo>
                  <a:pt x="97314" y="30837"/>
                  <a:pt x="90805" y="42436"/>
                  <a:pt x="90805" y="63897"/>
                </a:cubicBezTo>
                <a:lnTo>
                  <a:pt x="90805" y="92164"/>
                </a:lnTo>
                <a:lnTo>
                  <a:pt x="175657" y="92164"/>
                </a:lnTo>
                <a:lnTo>
                  <a:pt x="175657" y="101610"/>
                </a:lnTo>
                <a:lnTo>
                  <a:pt x="58976" y="101610"/>
                </a:lnTo>
                <a:cubicBezTo>
                  <a:pt x="34290" y="101610"/>
                  <a:pt x="12700" y="114598"/>
                  <a:pt x="5953" y="139254"/>
                </a:cubicBezTo>
                <a:cubicBezTo>
                  <a:pt x="-1826" y="167521"/>
                  <a:pt x="-2143" y="185162"/>
                  <a:pt x="5953" y="214680"/>
                </a:cubicBezTo>
                <a:cubicBezTo>
                  <a:pt x="11986" y="236627"/>
                  <a:pt x="26353" y="252323"/>
                  <a:pt x="51038" y="252323"/>
                </a:cubicBezTo>
                <a:lnTo>
                  <a:pt x="80169" y="252323"/>
                </a:lnTo>
                <a:lnTo>
                  <a:pt x="80169" y="218430"/>
                </a:lnTo>
                <a:cubicBezTo>
                  <a:pt x="80169" y="193913"/>
                  <a:pt x="104378" y="172313"/>
                  <a:pt x="133191" y="172313"/>
                </a:cubicBezTo>
                <a:close/>
                <a:moveTo>
                  <a:pt x="127953" y="44936"/>
                </a:moveTo>
                <a:cubicBezTo>
                  <a:pt x="136889" y="44936"/>
                  <a:pt x="144145" y="51285"/>
                  <a:pt x="144145" y="59105"/>
                </a:cubicBezTo>
                <a:cubicBezTo>
                  <a:pt x="144145" y="66924"/>
                  <a:pt x="136889" y="73273"/>
                  <a:pt x="127953" y="73273"/>
                </a:cubicBezTo>
                <a:cubicBezTo>
                  <a:pt x="119016" y="73273"/>
                  <a:pt x="111760" y="66924"/>
                  <a:pt x="111760" y="59105"/>
                </a:cubicBezTo>
                <a:cubicBezTo>
                  <a:pt x="111760" y="51285"/>
                  <a:pt x="119016" y="44936"/>
                  <a:pt x="127953" y="44936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1" name="Text 8"/>
          <p:cNvSpPr/>
          <p:nvPr/>
        </p:nvSpPr>
        <p:spPr>
          <a:xfrm>
            <a:off x="8890000" y="1841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2000" y="251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3200" y="111125"/>
                </a:moveTo>
                <a:lnTo>
                  <a:pt x="203200" y="177800"/>
                </a:lnTo>
                <a:lnTo>
                  <a:pt x="304800" y="177800"/>
                </a:lnTo>
                <a:lnTo>
                  <a:pt x="304800" y="111125"/>
                </a:lnTo>
                <a:lnTo>
                  <a:pt x="203200" y="111125"/>
                </a:lnTo>
                <a:close/>
                <a:moveTo>
                  <a:pt x="152400" y="111125"/>
                </a:moveTo>
                <a:lnTo>
                  <a:pt x="50800" y="111125"/>
                </a:lnTo>
                <a:lnTo>
                  <a:pt x="50800" y="177800"/>
                </a:lnTo>
                <a:lnTo>
                  <a:pt x="152400" y="177800"/>
                </a:lnTo>
                <a:lnTo>
                  <a:pt x="15240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22781" y="22225"/>
                  <a:pt x="50800" y="22225"/>
                </a:cubicBezTo>
                <a:lnTo>
                  <a:pt x="304800" y="22225"/>
                </a:lnTo>
                <a:cubicBezTo>
                  <a:pt x="332819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2819" y="333375"/>
                  <a:pt x="304800" y="333375"/>
                </a:cubicBezTo>
                <a:lnTo>
                  <a:pt x="50800" y="333375"/>
                </a:lnTo>
                <a:cubicBezTo>
                  <a:pt x="22781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304800" y="222250"/>
                </a:moveTo>
                <a:lnTo>
                  <a:pt x="203200" y="222250"/>
                </a:lnTo>
                <a:lnTo>
                  <a:pt x="203200" y="288925"/>
                </a:lnTo>
                <a:lnTo>
                  <a:pt x="304800" y="288925"/>
                </a:lnTo>
                <a:lnTo>
                  <a:pt x="304800" y="222250"/>
                </a:lnTo>
                <a:close/>
                <a:moveTo>
                  <a:pt x="152400" y="288925"/>
                </a:moveTo>
                <a:lnTo>
                  <a:pt x="152400" y="222250"/>
                </a:lnTo>
                <a:lnTo>
                  <a:pt x="50800" y="222250"/>
                </a:lnTo>
                <a:lnTo>
                  <a:pt x="50800" y="288925"/>
                </a:lnTo>
                <a:lnTo>
                  <a:pt x="152400" y="288925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3" name="Text 10"/>
          <p:cNvSpPr/>
          <p:nvPr/>
        </p:nvSpPr>
        <p:spPr>
          <a:xfrm>
            <a:off x="8890000" y="2476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314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0"/>
                </a:moveTo>
                <a:cubicBezTo>
                  <a:pt x="26577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26577" y="355600"/>
                  <a:pt x="59267" y="355600"/>
                </a:cubicBezTo>
                <a:lnTo>
                  <a:pt x="296333" y="355600"/>
                </a:lnTo>
                <a:cubicBezTo>
                  <a:pt x="329023" y="355600"/>
                  <a:pt x="355600" y="335667"/>
                  <a:pt x="355600" y="311150"/>
                </a:cubicBezTo>
                <a:lnTo>
                  <a:pt x="355600" y="44450"/>
                </a:lnTo>
                <a:cubicBezTo>
                  <a:pt x="355600" y="19933"/>
                  <a:pt x="329023" y="0"/>
                  <a:pt x="296333" y="0"/>
                </a:cubicBezTo>
                <a:lnTo>
                  <a:pt x="59267" y="0"/>
                </a:lnTo>
                <a:close/>
                <a:moveTo>
                  <a:pt x="88900" y="44450"/>
                </a:moveTo>
                <a:lnTo>
                  <a:pt x="266700" y="44450"/>
                </a:lnTo>
                <a:cubicBezTo>
                  <a:pt x="283091" y="44450"/>
                  <a:pt x="296333" y="54382"/>
                  <a:pt x="296333" y="66675"/>
                </a:cubicBezTo>
                <a:lnTo>
                  <a:pt x="296333" y="88900"/>
                </a:lnTo>
                <a:cubicBezTo>
                  <a:pt x="296333" y="101193"/>
                  <a:pt x="283091" y="111125"/>
                  <a:pt x="266700" y="111125"/>
                </a:cubicBezTo>
                <a:lnTo>
                  <a:pt x="88900" y="111125"/>
                </a:lnTo>
                <a:cubicBezTo>
                  <a:pt x="72509" y="111125"/>
                  <a:pt x="59267" y="101193"/>
                  <a:pt x="59267" y="88900"/>
                </a:cubicBezTo>
                <a:lnTo>
                  <a:pt x="59267" y="66675"/>
                </a:lnTo>
                <a:cubicBezTo>
                  <a:pt x="59267" y="54382"/>
                  <a:pt x="72509" y="44450"/>
                  <a:pt x="88900" y="44450"/>
                </a:cubicBezTo>
                <a:close/>
                <a:moveTo>
                  <a:pt x="103717" y="161131"/>
                </a:moveTo>
                <a:cubicBezTo>
                  <a:pt x="103717" y="170331"/>
                  <a:pt x="93758" y="177800"/>
                  <a:pt x="81492" y="177800"/>
                </a:cubicBezTo>
                <a:cubicBezTo>
                  <a:pt x="69225" y="177800"/>
                  <a:pt x="59267" y="170331"/>
                  <a:pt x="59267" y="161131"/>
                </a:cubicBezTo>
                <a:cubicBezTo>
                  <a:pt x="59267" y="151932"/>
                  <a:pt x="69225" y="144463"/>
                  <a:pt x="81492" y="144463"/>
                </a:cubicBezTo>
                <a:cubicBezTo>
                  <a:pt x="93758" y="144463"/>
                  <a:pt x="103717" y="151932"/>
                  <a:pt x="103717" y="161131"/>
                </a:cubicBezTo>
                <a:close/>
                <a:moveTo>
                  <a:pt x="177800" y="177800"/>
                </a:moveTo>
                <a:cubicBezTo>
                  <a:pt x="165534" y="177800"/>
                  <a:pt x="155575" y="170331"/>
                  <a:pt x="155575" y="161131"/>
                </a:cubicBezTo>
                <a:cubicBezTo>
                  <a:pt x="155575" y="151932"/>
                  <a:pt x="165534" y="144463"/>
                  <a:pt x="177800" y="144463"/>
                </a:cubicBezTo>
                <a:cubicBezTo>
                  <a:pt x="190066" y="144463"/>
                  <a:pt x="200025" y="151932"/>
                  <a:pt x="200025" y="161131"/>
                </a:cubicBezTo>
                <a:cubicBezTo>
                  <a:pt x="200025" y="170331"/>
                  <a:pt x="190066" y="177800"/>
                  <a:pt x="177800" y="177800"/>
                </a:cubicBezTo>
                <a:close/>
                <a:moveTo>
                  <a:pt x="296333" y="161131"/>
                </a:moveTo>
                <a:cubicBezTo>
                  <a:pt x="296333" y="170331"/>
                  <a:pt x="286375" y="177800"/>
                  <a:pt x="274108" y="177800"/>
                </a:cubicBezTo>
                <a:cubicBezTo>
                  <a:pt x="261842" y="177800"/>
                  <a:pt x="251883" y="170331"/>
                  <a:pt x="251883" y="161131"/>
                </a:cubicBezTo>
                <a:cubicBezTo>
                  <a:pt x="251883" y="151932"/>
                  <a:pt x="261842" y="144463"/>
                  <a:pt x="274108" y="144463"/>
                </a:cubicBezTo>
                <a:cubicBezTo>
                  <a:pt x="286375" y="144463"/>
                  <a:pt x="296333" y="151932"/>
                  <a:pt x="296333" y="161131"/>
                </a:cubicBezTo>
                <a:close/>
                <a:moveTo>
                  <a:pt x="81492" y="244475"/>
                </a:moveTo>
                <a:cubicBezTo>
                  <a:pt x="69225" y="244475"/>
                  <a:pt x="59267" y="237006"/>
                  <a:pt x="59267" y="227806"/>
                </a:cubicBezTo>
                <a:cubicBezTo>
                  <a:pt x="59267" y="218607"/>
                  <a:pt x="69225" y="211138"/>
                  <a:pt x="81492" y="211138"/>
                </a:cubicBezTo>
                <a:cubicBezTo>
                  <a:pt x="93758" y="211138"/>
                  <a:pt x="103717" y="218607"/>
                  <a:pt x="103717" y="227806"/>
                </a:cubicBezTo>
                <a:cubicBezTo>
                  <a:pt x="103717" y="237006"/>
                  <a:pt x="93758" y="244475"/>
                  <a:pt x="81492" y="244475"/>
                </a:cubicBezTo>
                <a:close/>
                <a:moveTo>
                  <a:pt x="200025" y="227806"/>
                </a:moveTo>
                <a:cubicBezTo>
                  <a:pt x="200025" y="237006"/>
                  <a:pt x="190066" y="244475"/>
                  <a:pt x="177800" y="244475"/>
                </a:cubicBezTo>
                <a:cubicBezTo>
                  <a:pt x="165534" y="244475"/>
                  <a:pt x="155575" y="237006"/>
                  <a:pt x="155575" y="227806"/>
                </a:cubicBezTo>
                <a:cubicBezTo>
                  <a:pt x="155575" y="218607"/>
                  <a:pt x="165534" y="211138"/>
                  <a:pt x="177800" y="211138"/>
                </a:cubicBezTo>
                <a:cubicBezTo>
                  <a:pt x="190066" y="211138"/>
                  <a:pt x="200025" y="218607"/>
                  <a:pt x="200025" y="227806"/>
                </a:cubicBezTo>
                <a:close/>
                <a:moveTo>
                  <a:pt x="274108" y="244475"/>
                </a:moveTo>
                <a:cubicBezTo>
                  <a:pt x="261842" y="244475"/>
                  <a:pt x="251883" y="237006"/>
                  <a:pt x="251883" y="227806"/>
                </a:cubicBezTo>
                <a:cubicBezTo>
                  <a:pt x="251883" y="218607"/>
                  <a:pt x="261842" y="211138"/>
                  <a:pt x="274108" y="211138"/>
                </a:cubicBezTo>
                <a:cubicBezTo>
                  <a:pt x="286375" y="211138"/>
                  <a:pt x="296333" y="218607"/>
                  <a:pt x="296333" y="227806"/>
                </a:cubicBezTo>
                <a:cubicBezTo>
                  <a:pt x="296333" y="237006"/>
                  <a:pt x="286375" y="244475"/>
                  <a:pt x="274108" y="244475"/>
                </a:cubicBezTo>
                <a:close/>
                <a:moveTo>
                  <a:pt x="59267" y="294481"/>
                </a:moveTo>
                <a:cubicBezTo>
                  <a:pt x="59267" y="285244"/>
                  <a:pt x="69175" y="277813"/>
                  <a:pt x="81492" y="277813"/>
                </a:cubicBezTo>
                <a:lnTo>
                  <a:pt x="185208" y="277813"/>
                </a:lnTo>
                <a:cubicBezTo>
                  <a:pt x="197525" y="277813"/>
                  <a:pt x="207433" y="285244"/>
                  <a:pt x="207433" y="294481"/>
                </a:cubicBezTo>
                <a:cubicBezTo>
                  <a:pt x="207433" y="303719"/>
                  <a:pt x="197525" y="311150"/>
                  <a:pt x="185208" y="311150"/>
                </a:cubicBezTo>
                <a:lnTo>
                  <a:pt x="81492" y="311150"/>
                </a:lnTo>
                <a:cubicBezTo>
                  <a:pt x="69175" y="311150"/>
                  <a:pt x="59267" y="303719"/>
                  <a:pt x="59267" y="294481"/>
                </a:cubicBezTo>
                <a:close/>
                <a:moveTo>
                  <a:pt x="274108" y="277813"/>
                </a:moveTo>
                <a:cubicBezTo>
                  <a:pt x="286425" y="277813"/>
                  <a:pt x="296333" y="285244"/>
                  <a:pt x="296333" y="294481"/>
                </a:cubicBezTo>
                <a:cubicBezTo>
                  <a:pt x="296333" y="303719"/>
                  <a:pt x="286425" y="311150"/>
                  <a:pt x="274108" y="311150"/>
                </a:cubicBezTo>
                <a:cubicBezTo>
                  <a:pt x="261792" y="311150"/>
                  <a:pt x="251883" y="303719"/>
                  <a:pt x="251883" y="294481"/>
                </a:cubicBezTo>
                <a:cubicBezTo>
                  <a:pt x="251883" y="285244"/>
                  <a:pt x="261792" y="277813"/>
                  <a:pt x="274108" y="277813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5" name="Text 12"/>
          <p:cNvSpPr/>
          <p:nvPr/>
        </p:nvSpPr>
        <p:spPr>
          <a:xfrm>
            <a:off x="8890000" y="3111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7" name="Text 14"/>
          <p:cNvSpPr/>
          <p:nvPr/>
        </p:nvSpPr>
        <p:spPr>
          <a:xfrm>
            <a:off x="8890000" y="3746500"/>
            <a:ext cx="317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9" name="Text 16"/>
          <p:cNvSpPr/>
          <p:nvPr/>
        </p:nvSpPr>
        <p:spPr>
          <a:xfrm>
            <a:off x="8890000" y="4381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505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21" name="Text 18"/>
          <p:cNvSpPr/>
          <p:nvPr/>
        </p:nvSpPr>
        <p:spPr>
          <a:xfrm>
            <a:off x="8890000" y="5016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82000" y="568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0779" y="276007"/>
                </a:moveTo>
                <a:cubicBezTo>
                  <a:pt x="120779" y="277396"/>
                  <a:pt x="119182" y="278507"/>
                  <a:pt x="117167" y="278507"/>
                </a:cubicBezTo>
                <a:cubicBezTo>
                  <a:pt x="114875" y="278715"/>
                  <a:pt x="113278" y="277604"/>
                  <a:pt x="113278" y="276007"/>
                </a:cubicBezTo>
                <a:cubicBezTo>
                  <a:pt x="113278" y="274618"/>
                  <a:pt x="114875" y="273506"/>
                  <a:pt x="116890" y="273506"/>
                </a:cubicBezTo>
                <a:cubicBezTo>
                  <a:pt x="118973" y="273298"/>
                  <a:pt x="120779" y="274409"/>
                  <a:pt x="120779" y="276007"/>
                </a:cubicBezTo>
                <a:close/>
                <a:moveTo>
                  <a:pt x="99179" y="272881"/>
                </a:moveTo>
                <a:cubicBezTo>
                  <a:pt x="98693" y="274270"/>
                  <a:pt x="100082" y="275868"/>
                  <a:pt x="102166" y="276285"/>
                </a:cubicBezTo>
                <a:cubicBezTo>
                  <a:pt x="103971" y="276979"/>
                  <a:pt x="106055" y="276285"/>
                  <a:pt x="106472" y="274895"/>
                </a:cubicBezTo>
                <a:cubicBezTo>
                  <a:pt x="106888" y="273506"/>
                  <a:pt x="105569" y="271909"/>
                  <a:pt x="103485" y="271284"/>
                </a:cubicBezTo>
                <a:cubicBezTo>
                  <a:pt x="101679" y="270798"/>
                  <a:pt x="99665" y="271492"/>
                  <a:pt x="99179" y="272881"/>
                </a:cubicBezTo>
                <a:close/>
                <a:moveTo>
                  <a:pt x="129877" y="271701"/>
                </a:moveTo>
                <a:cubicBezTo>
                  <a:pt x="127863" y="272187"/>
                  <a:pt x="126474" y="273506"/>
                  <a:pt x="126683" y="275104"/>
                </a:cubicBezTo>
                <a:cubicBezTo>
                  <a:pt x="126891" y="276493"/>
                  <a:pt x="128697" y="277396"/>
                  <a:pt x="130780" y="276910"/>
                </a:cubicBezTo>
                <a:cubicBezTo>
                  <a:pt x="132794" y="276423"/>
                  <a:pt x="134183" y="275104"/>
                  <a:pt x="133975" y="273715"/>
                </a:cubicBezTo>
                <a:cubicBezTo>
                  <a:pt x="133767" y="272395"/>
                  <a:pt x="131891" y="271492"/>
                  <a:pt x="129877" y="271701"/>
                </a:cubicBezTo>
                <a:close/>
                <a:moveTo>
                  <a:pt x="175577" y="5556"/>
                </a:moveTo>
                <a:cubicBezTo>
                  <a:pt x="79246" y="5556"/>
                  <a:pt x="5556" y="78690"/>
                  <a:pt x="5556" y="175022"/>
                </a:cubicBezTo>
                <a:cubicBezTo>
                  <a:pt x="5556" y="252045"/>
                  <a:pt x="54035" y="317956"/>
                  <a:pt x="123279" y="341154"/>
                </a:cubicBezTo>
                <a:cubicBezTo>
                  <a:pt x="132169" y="342751"/>
                  <a:pt x="135295" y="337264"/>
                  <a:pt x="135295" y="332750"/>
                </a:cubicBezTo>
                <a:cubicBezTo>
                  <a:pt x="135295" y="328444"/>
                  <a:pt x="135086" y="304691"/>
                  <a:pt x="135086" y="290106"/>
                </a:cubicBezTo>
                <a:cubicBezTo>
                  <a:pt x="135086" y="290106"/>
                  <a:pt x="86469" y="300524"/>
                  <a:pt x="76260" y="269409"/>
                </a:cubicBezTo>
                <a:cubicBezTo>
                  <a:pt x="76260" y="269409"/>
                  <a:pt x="68342" y="249198"/>
                  <a:pt x="56952" y="243989"/>
                </a:cubicBezTo>
                <a:cubicBezTo>
                  <a:pt x="56952" y="243989"/>
                  <a:pt x="41047" y="233085"/>
                  <a:pt x="58063" y="233293"/>
                </a:cubicBezTo>
                <a:cubicBezTo>
                  <a:pt x="58063" y="233293"/>
                  <a:pt x="75357" y="234682"/>
                  <a:pt x="84872" y="251212"/>
                </a:cubicBezTo>
                <a:cubicBezTo>
                  <a:pt x="100082" y="278021"/>
                  <a:pt x="125571" y="270312"/>
                  <a:pt x="135503" y="265728"/>
                </a:cubicBezTo>
                <a:cubicBezTo>
                  <a:pt x="137100" y="254615"/>
                  <a:pt x="141615" y="246906"/>
                  <a:pt x="146616" y="242322"/>
                </a:cubicBezTo>
                <a:cubicBezTo>
                  <a:pt x="107791" y="238016"/>
                  <a:pt x="68620" y="232390"/>
                  <a:pt x="68620" y="165576"/>
                </a:cubicBezTo>
                <a:cubicBezTo>
                  <a:pt x="68620" y="146477"/>
                  <a:pt x="73898" y="136892"/>
                  <a:pt x="85011" y="124668"/>
                </a:cubicBezTo>
                <a:cubicBezTo>
                  <a:pt x="83205" y="120154"/>
                  <a:pt x="77301" y="101540"/>
                  <a:pt x="86816" y="77510"/>
                </a:cubicBezTo>
                <a:cubicBezTo>
                  <a:pt x="101332" y="72995"/>
                  <a:pt x="134739" y="96262"/>
                  <a:pt x="134739" y="96262"/>
                </a:cubicBezTo>
                <a:cubicBezTo>
                  <a:pt x="148630" y="92373"/>
                  <a:pt x="163562" y="90359"/>
                  <a:pt x="178356" y="90359"/>
                </a:cubicBezTo>
                <a:cubicBezTo>
                  <a:pt x="193149" y="90359"/>
                  <a:pt x="208082" y="92373"/>
                  <a:pt x="221972" y="96262"/>
                </a:cubicBezTo>
                <a:cubicBezTo>
                  <a:pt x="221972" y="96262"/>
                  <a:pt x="255379" y="72926"/>
                  <a:pt x="269895" y="77510"/>
                </a:cubicBezTo>
                <a:cubicBezTo>
                  <a:pt x="279410" y="101610"/>
                  <a:pt x="273506" y="120154"/>
                  <a:pt x="271701" y="124668"/>
                </a:cubicBezTo>
                <a:cubicBezTo>
                  <a:pt x="282813" y="136962"/>
                  <a:pt x="289620" y="146546"/>
                  <a:pt x="289620" y="165576"/>
                </a:cubicBezTo>
                <a:cubicBezTo>
                  <a:pt x="289620" y="232599"/>
                  <a:pt x="248712" y="237946"/>
                  <a:pt x="209887" y="242322"/>
                </a:cubicBezTo>
                <a:cubicBezTo>
                  <a:pt x="216277" y="247809"/>
                  <a:pt x="221694" y="258227"/>
                  <a:pt x="221694" y="274548"/>
                </a:cubicBezTo>
                <a:cubicBezTo>
                  <a:pt x="221694" y="297954"/>
                  <a:pt x="221486" y="326916"/>
                  <a:pt x="221486" y="332611"/>
                </a:cubicBezTo>
                <a:cubicBezTo>
                  <a:pt x="221486" y="337125"/>
                  <a:pt x="224681" y="342612"/>
                  <a:pt x="233501" y="341015"/>
                </a:cubicBezTo>
                <a:cubicBezTo>
                  <a:pt x="302955" y="317956"/>
                  <a:pt x="350044" y="252045"/>
                  <a:pt x="350044" y="175022"/>
                </a:cubicBezTo>
                <a:cubicBezTo>
                  <a:pt x="350044" y="78690"/>
                  <a:pt x="271909" y="5556"/>
                  <a:pt x="175578" y="5556"/>
                </a:cubicBezTo>
                <a:close/>
                <a:moveTo>
                  <a:pt x="73065" y="245100"/>
                </a:moveTo>
                <a:cubicBezTo>
                  <a:pt x="72162" y="245795"/>
                  <a:pt x="72370" y="247392"/>
                  <a:pt x="73551" y="248712"/>
                </a:cubicBezTo>
                <a:cubicBezTo>
                  <a:pt x="74662" y="249823"/>
                  <a:pt x="76260" y="250309"/>
                  <a:pt x="77162" y="249406"/>
                </a:cubicBezTo>
                <a:cubicBezTo>
                  <a:pt x="78065" y="248712"/>
                  <a:pt x="77857" y="247114"/>
                  <a:pt x="76676" y="245795"/>
                </a:cubicBezTo>
                <a:cubicBezTo>
                  <a:pt x="75565" y="244683"/>
                  <a:pt x="73968" y="244197"/>
                  <a:pt x="73065" y="245100"/>
                </a:cubicBezTo>
                <a:close/>
                <a:moveTo>
                  <a:pt x="65564" y="239474"/>
                </a:moveTo>
                <a:cubicBezTo>
                  <a:pt x="65078" y="240377"/>
                  <a:pt x="65772" y="241489"/>
                  <a:pt x="67161" y="242183"/>
                </a:cubicBezTo>
                <a:cubicBezTo>
                  <a:pt x="68272" y="242878"/>
                  <a:pt x="69661" y="242669"/>
                  <a:pt x="70148" y="241697"/>
                </a:cubicBezTo>
                <a:cubicBezTo>
                  <a:pt x="70634" y="240794"/>
                  <a:pt x="69939" y="239683"/>
                  <a:pt x="68550" y="238988"/>
                </a:cubicBezTo>
                <a:cubicBezTo>
                  <a:pt x="67161" y="238571"/>
                  <a:pt x="66050" y="238780"/>
                  <a:pt x="65564" y="239474"/>
                </a:cubicBezTo>
                <a:close/>
                <a:moveTo>
                  <a:pt x="88067" y="264200"/>
                </a:moveTo>
                <a:cubicBezTo>
                  <a:pt x="86955" y="265103"/>
                  <a:pt x="87372" y="267186"/>
                  <a:pt x="88969" y="268506"/>
                </a:cubicBezTo>
                <a:cubicBezTo>
                  <a:pt x="90567" y="270103"/>
                  <a:pt x="92581" y="270312"/>
                  <a:pt x="93484" y="269200"/>
                </a:cubicBezTo>
                <a:cubicBezTo>
                  <a:pt x="94387" y="268297"/>
                  <a:pt x="93970" y="266214"/>
                  <a:pt x="92581" y="264894"/>
                </a:cubicBezTo>
                <a:cubicBezTo>
                  <a:pt x="91053" y="263297"/>
                  <a:pt x="88969" y="263088"/>
                  <a:pt x="88067" y="264200"/>
                </a:cubicBezTo>
                <a:close/>
                <a:moveTo>
                  <a:pt x="80149" y="253990"/>
                </a:moveTo>
                <a:cubicBezTo>
                  <a:pt x="79038" y="254685"/>
                  <a:pt x="79038" y="256490"/>
                  <a:pt x="80149" y="258088"/>
                </a:cubicBezTo>
                <a:cubicBezTo>
                  <a:pt x="81260" y="259685"/>
                  <a:pt x="83135" y="260380"/>
                  <a:pt x="84038" y="259685"/>
                </a:cubicBezTo>
                <a:cubicBezTo>
                  <a:pt x="85150" y="258782"/>
                  <a:pt x="85150" y="256977"/>
                  <a:pt x="84038" y="255379"/>
                </a:cubicBezTo>
                <a:cubicBezTo>
                  <a:pt x="83066" y="253782"/>
                  <a:pt x="81260" y="253087"/>
                  <a:pt x="80149" y="25399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23" name="Text 20"/>
          <p:cNvSpPr/>
          <p:nvPr/>
        </p:nvSpPr>
        <p:spPr>
          <a:xfrm>
            <a:off x="8890000" y="56515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82000" y="6477000"/>
            <a:ext cx="7112000" cy="1460500"/>
          </a:xfrm>
          <a:prstGeom prst="rect">
            <a:avLst/>
          </a:prstGeom>
          <a:solidFill>
            <a:srgbClr val="EDF1F8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36000" y="6604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Flow Architecture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636000" y="69596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 ingested from 8 sources → ETL pipeline → SQLite database → Python analytics → Power BI visualization layer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Analytics Platform Architecture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Six-stage pipeline transforms raw data into actionable investment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40000" y="1143000"/>
            <a:ext cx="0" cy="6858000"/>
          </a:xfrm>
          <a:prstGeom prst="straightConnector1">
            <a:avLst/>
          </a:prstGeom>
          <a:noFill/>
          <a:ln w="38100">
            <a:solidFill>
              <a:srgbClr val="0B2D5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413000" y="1270000"/>
            <a:ext cx="254000" cy="254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206500"/>
            <a:ext cx="1524000" cy="381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206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1000" y="1181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 Data Collection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1000" y="15875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 data from 8 sources: Fund Master, NAV History, Performance, Transactions, SIP, Benchmarks, Holdings, Folio 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13000" y="2349500"/>
            <a:ext cx="254000" cy="2540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000" y="2286000"/>
            <a:ext cx="1524000" cy="381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" y="2286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1000" y="2260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 Pipeline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1000" y="26670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→ Transform → Load: data cleaning, normalization, type conversion, and schema alignment into SQLite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13000" y="3429000"/>
            <a:ext cx="254000" cy="254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3365500"/>
            <a:ext cx="1524000" cy="3810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365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1000" y="3340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21000" y="37465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profiling, distribution analysis, correlation studies, and trend identification across fund categories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13000" y="4508500"/>
            <a:ext cx="254000" cy="254000"/>
          </a:xfrm>
          <a:prstGeom prst="ellipse">
            <a:avLst/>
          </a:prstGeom>
          <a:solidFill>
            <a:srgbClr val="1E5AA8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000" y="4445000"/>
            <a:ext cx="1524000" cy="3810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000" y="4445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1000" y="441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Analytics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21000" y="48260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VaR/CVaR computation, rolling Sharpe ratios, cohort analysis, SIP continuity, HHI concentration, recommendation engine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13000" y="5588000"/>
            <a:ext cx="254000" cy="2540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000" y="5524500"/>
            <a:ext cx="1524000" cy="381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000" y="5524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1000" y="54991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8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 Dashboard Development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921000" y="59055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visualizations: Fund Overview, Performance Analytics, Investor Insights, and Risk Metrics dashboards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13000" y="6667500"/>
            <a:ext cx="254000" cy="2540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000" y="6604000"/>
            <a:ext cx="1524000" cy="381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35000" y="6604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921000" y="6578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8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Reporting &amp; Recommendations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921000" y="6985000"/>
            <a:ext cx="1244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reports with actionable insights for fund selection, risk management, and portfolio optimization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40000" y="1524000"/>
            <a:ext cx="0" cy="82550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540000" y="2603500"/>
            <a:ext cx="0" cy="82550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540000" y="3683000"/>
            <a:ext cx="0" cy="825500"/>
          </a:xfrm>
          <a:prstGeom prst="straightConnector1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540000" y="4762500"/>
            <a:ext cx="0" cy="825500"/>
          </a:xfrm>
          <a:prstGeom prst="straightConnector1">
            <a:avLst/>
          </a:prstGeom>
          <a:noFill/>
          <a:ln w="25400">
            <a:solidFill>
              <a:srgbClr val="1E5AA8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2540000" y="5842000"/>
            <a:ext cx="0" cy="825500"/>
          </a:xfrm>
          <a:prstGeom prst="straightConnector1">
            <a:avLst/>
          </a:prstGeom>
          <a:noFill/>
          <a:ln w="25400">
            <a:solidFill>
              <a:srgbClr val="D4A843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35000" y="8255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35000" y="8382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Project Technical Architecture Document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reveals distinct patterns across fund categories, investor segments, and geographic distribution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406400" cy="4064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16000"/>
            <a:ext cx="355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Mutual Fund Category Analysis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35000" y="1714500"/>
          <a:ext cx="4445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35000" y="4889500"/>
            <a:ext cx="444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Equity funds dominate with 45 schemes, followed by debt at 32, indicating strong preference for growth instruments.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15000" y="1079500"/>
            <a:ext cx="406400" cy="4064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23000" y="1016000"/>
            <a:ext cx="355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SIP Inflow Trends</a:t>
            </a:r>
            <a:endParaRPr lang="en-US" sz="16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5715000" y="1714500"/>
          <a:ext cx="4445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5715000" y="48895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SIP inflows show consistent upward momentum, with a 47% increase from January to June, reflecting growing retail investor participation.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795000" y="1079500"/>
            <a:ext cx="406400" cy="406400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16" name="Text 12"/>
          <p:cNvSpPr/>
          <p:nvPr/>
        </p:nvSpPr>
        <p:spPr>
          <a:xfrm>
            <a:off x="10795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303000" y="10160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State-wise Investment Distribution</a:t>
            </a:r>
            <a:endParaRPr lang="en-US" sz="1600" dirty="0"/>
          </a:p>
        </p:txBody>
      </p:sp>
      <p:graphicFrame>
        <p:nvGraphicFramePr>
          <p:cNvPr id="18" name="Chart 2"/>
          <p:cNvGraphicFramePr/>
          <p:nvPr/>
        </p:nvGraphicFramePr>
        <p:xfrm>
          <a:off x="10795000" y="1714500"/>
          <a:ext cx="4826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4"/>
          <p:cNvSpPr/>
          <p:nvPr/>
        </p:nvSpPr>
        <p:spPr>
          <a:xfrm>
            <a:off x="10795000" y="48895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Maharashtra leads with 28% of total investments, while the top 5 states account for 83% of AUM, highlighting geographic concentration.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397500" y="1079500"/>
            <a:ext cx="0" cy="482600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1" name="Shape 16"/>
          <p:cNvSpPr/>
          <p:nvPr/>
        </p:nvSpPr>
        <p:spPr>
          <a:xfrm>
            <a:off x="10477500" y="1079500"/>
            <a:ext cx="0" cy="482600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635000" y="6248400"/>
            <a:ext cx="14986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89000" y="6324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EDA Findings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89000" y="6705600"/>
            <a:ext cx="1447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 Demographics: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Majority of investors (62%) fall in the 25-45 age bracket, with salaried professionals contributing 78% of SIP volumes.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Scheme Performance: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Large-cap equity funds outperformed mid-cap and small-cap categories on risk-adjusted returns over the 3-year horizon.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Preferences: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Growth-oriented schemes attracted 3.2x more inflows compared to dividend-paying alternatives.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6" name="Text 21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EDA Analysis, June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key metrics quantify risk-adjusted returns and market sensitivity across fund schemes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3492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34925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7" name="Shape 5"/>
          <p:cNvSpPr/>
          <p:nvPr/>
        </p:nvSpPr>
        <p:spPr>
          <a:xfrm>
            <a:off x="8890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1905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Sharpe Ratio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9000" y="2311400"/>
            <a:ext cx="298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(Return - Risk-Free) / Std Dev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9000" y="2692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risk-adjusted returns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comparing excess return per unit of total risk. Higher values indicate better risk-compensated performance.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08500" y="1079500"/>
            <a:ext cx="3492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8500" y="1079500"/>
            <a:ext cx="3492500" cy="6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25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27000"/>
                </a:moveTo>
                <a:cubicBezTo>
                  <a:pt x="258445" y="127000"/>
                  <a:pt x="248356" y="115649"/>
                  <a:pt x="248356" y="101600"/>
                </a:cubicBezTo>
                <a:cubicBezTo>
                  <a:pt x="248356" y="87551"/>
                  <a:pt x="258445" y="76200"/>
                  <a:pt x="270933" y="76200"/>
                </a:cubicBezTo>
                <a:lnTo>
                  <a:pt x="383822" y="76200"/>
                </a:lnTo>
                <a:cubicBezTo>
                  <a:pt x="396311" y="76200"/>
                  <a:pt x="406400" y="87551"/>
                  <a:pt x="406400" y="101600"/>
                </a:cubicBezTo>
                <a:lnTo>
                  <a:pt x="406400" y="228600"/>
                </a:lnTo>
                <a:cubicBezTo>
                  <a:pt x="406400" y="242649"/>
                  <a:pt x="396311" y="254000"/>
                  <a:pt x="383822" y="254000"/>
                </a:cubicBezTo>
                <a:cubicBezTo>
                  <a:pt x="371334" y="254000"/>
                  <a:pt x="361244" y="242649"/>
                  <a:pt x="361244" y="228600"/>
                </a:cubicBezTo>
                <a:lnTo>
                  <a:pt x="361244" y="162957"/>
                </a:lnTo>
                <a:lnTo>
                  <a:pt x="241723" y="297418"/>
                </a:lnTo>
                <a:cubicBezTo>
                  <a:pt x="232904" y="307340"/>
                  <a:pt x="218581" y="307340"/>
                  <a:pt x="209762" y="297418"/>
                </a:cubicBezTo>
                <a:lnTo>
                  <a:pt x="135467" y="213757"/>
                </a:lnTo>
                <a:lnTo>
                  <a:pt x="38523" y="322739"/>
                </a:lnTo>
                <a:cubicBezTo>
                  <a:pt x="29704" y="332661"/>
                  <a:pt x="15381" y="332661"/>
                  <a:pt x="6562" y="322739"/>
                </a:cubicBezTo>
                <a:cubicBezTo>
                  <a:pt x="-2258" y="312817"/>
                  <a:pt x="-2258" y="296704"/>
                  <a:pt x="6562" y="286782"/>
                </a:cubicBezTo>
                <a:lnTo>
                  <a:pt x="119451" y="159782"/>
                </a:lnTo>
                <a:cubicBezTo>
                  <a:pt x="128270" y="149860"/>
                  <a:pt x="142593" y="149860"/>
                  <a:pt x="151412" y="159782"/>
                </a:cubicBezTo>
                <a:lnTo>
                  <a:pt x="225778" y="243443"/>
                </a:lnTo>
                <a:lnTo>
                  <a:pt x="329283" y="127000"/>
                </a:lnTo>
                <a:lnTo>
                  <a:pt x="270933" y="127000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0" y="1905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62500" y="2311400"/>
            <a:ext cx="298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Actual Return - Expected Return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0" y="2692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Represents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excess return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relative to the benchmark. Positive alpha indicates outperformance attributed to manager skill.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82000" y="1079500"/>
            <a:ext cx="3492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0" y="1079500"/>
            <a:ext cx="3492500" cy="6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60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840" y="25400"/>
                </a:moveTo>
                <a:lnTo>
                  <a:pt x="325120" y="25400"/>
                </a:lnTo>
                <a:cubicBezTo>
                  <a:pt x="336360" y="25400"/>
                  <a:pt x="345440" y="36751"/>
                  <a:pt x="345440" y="50800"/>
                </a:cubicBezTo>
                <a:cubicBezTo>
                  <a:pt x="345440" y="64849"/>
                  <a:pt x="336360" y="76200"/>
                  <a:pt x="325120" y="76200"/>
                </a:cubicBezTo>
                <a:lnTo>
                  <a:pt x="252984" y="76200"/>
                </a:lnTo>
                <a:cubicBezTo>
                  <a:pt x="249682" y="96679"/>
                  <a:pt x="238443" y="113586"/>
                  <a:pt x="223520" y="121682"/>
                </a:cubicBezTo>
                <a:lnTo>
                  <a:pt x="223520" y="355600"/>
                </a:lnTo>
                <a:lnTo>
                  <a:pt x="325120" y="355600"/>
                </a:lnTo>
                <a:cubicBezTo>
                  <a:pt x="336360" y="355600"/>
                  <a:pt x="345440" y="366951"/>
                  <a:pt x="345440" y="381000"/>
                </a:cubicBezTo>
                <a:cubicBezTo>
                  <a:pt x="345440" y="395049"/>
                  <a:pt x="336360" y="406400"/>
                  <a:pt x="325120" y="406400"/>
                </a:cubicBezTo>
                <a:lnTo>
                  <a:pt x="81280" y="406400"/>
                </a:lnTo>
                <a:cubicBezTo>
                  <a:pt x="70041" y="406400"/>
                  <a:pt x="60960" y="395049"/>
                  <a:pt x="60960" y="381000"/>
                </a:cubicBezTo>
                <a:cubicBezTo>
                  <a:pt x="60960" y="366951"/>
                  <a:pt x="70041" y="355600"/>
                  <a:pt x="81280" y="355600"/>
                </a:cubicBezTo>
                <a:lnTo>
                  <a:pt x="182880" y="355600"/>
                </a:lnTo>
                <a:lnTo>
                  <a:pt x="182880" y="121682"/>
                </a:lnTo>
                <a:cubicBezTo>
                  <a:pt x="167958" y="113506"/>
                  <a:pt x="156718" y="96599"/>
                  <a:pt x="153416" y="76200"/>
                </a:cubicBezTo>
                <a:lnTo>
                  <a:pt x="81280" y="76200"/>
                </a:lnTo>
                <a:cubicBezTo>
                  <a:pt x="70041" y="76200"/>
                  <a:pt x="60960" y="64849"/>
                  <a:pt x="60960" y="50800"/>
                </a:cubicBezTo>
                <a:cubicBezTo>
                  <a:pt x="60960" y="36751"/>
                  <a:pt x="70041" y="25400"/>
                  <a:pt x="81280" y="25400"/>
                </a:cubicBezTo>
                <a:lnTo>
                  <a:pt x="162560" y="25400"/>
                </a:lnTo>
                <a:cubicBezTo>
                  <a:pt x="171831" y="10001"/>
                  <a:pt x="186563" y="0"/>
                  <a:pt x="203200" y="0"/>
                </a:cubicBezTo>
                <a:cubicBezTo>
                  <a:pt x="219837" y="0"/>
                  <a:pt x="234569" y="10001"/>
                  <a:pt x="243840" y="25400"/>
                </a:cubicBezTo>
                <a:close/>
                <a:moveTo>
                  <a:pt x="279146" y="254000"/>
                </a:moveTo>
                <a:lnTo>
                  <a:pt x="371094" y="254000"/>
                </a:lnTo>
                <a:lnTo>
                  <a:pt x="325120" y="155416"/>
                </a:lnTo>
                <a:lnTo>
                  <a:pt x="279146" y="254000"/>
                </a:lnTo>
                <a:close/>
                <a:moveTo>
                  <a:pt x="325120" y="330200"/>
                </a:moveTo>
                <a:cubicBezTo>
                  <a:pt x="285179" y="330200"/>
                  <a:pt x="251968" y="303213"/>
                  <a:pt x="245110" y="267573"/>
                </a:cubicBezTo>
                <a:cubicBezTo>
                  <a:pt x="243459" y="258842"/>
                  <a:pt x="245745" y="249873"/>
                  <a:pt x="249365" y="242094"/>
                </a:cubicBezTo>
                <a:lnTo>
                  <a:pt x="309817" y="112554"/>
                </a:lnTo>
                <a:cubicBezTo>
                  <a:pt x="312992" y="105728"/>
                  <a:pt x="318834" y="101600"/>
                  <a:pt x="325120" y="101600"/>
                </a:cubicBezTo>
                <a:cubicBezTo>
                  <a:pt x="331407" y="101600"/>
                  <a:pt x="337249" y="105807"/>
                  <a:pt x="340424" y="112554"/>
                </a:cubicBezTo>
                <a:lnTo>
                  <a:pt x="400876" y="242094"/>
                </a:lnTo>
                <a:cubicBezTo>
                  <a:pt x="404495" y="249873"/>
                  <a:pt x="406781" y="258842"/>
                  <a:pt x="405130" y="267573"/>
                </a:cubicBezTo>
                <a:cubicBezTo>
                  <a:pt x="398272" y="303133"/>
                  <a:pt x="365062" y="330200"/>
                  <a:pt x="325120" y="330200"/>
                </a:cubicBezTo>
                <a:close/>
                <a:moveTo>
                  <a:pt x="80518" y="155416"/>
                </a:moveTo>
                <a:lnTo>
                  <a:pt x="34544" y="254000"/>
                </a:lnTo>
                <a:lnTo>
                  <a:pt x="126556" y="254000"/>
                </a:lnTo>
                <a:lnTo>
                  <a:pt x="80518" y="155416"/>
                </a:lnTo>
                <a:close/>
                <a:moveTo>
                  <a:pt x="572" y="267573"/>
                </a:moveTo>
                <a:cubicBezTo>
                  <a:pt x="-1080" y="258842"/>
                  <a:pt x="1207" y="249873"/>
                  <a:pt x="4826" y="242094"/>
                </a:cubicBezTo>
                <a:lnTo>
                  <a:pt x="65278" y="112554"/>
                </a:lnTo>
                <a:cubicBezTo>
                  <a:pt x="68453" y="105728"/>
                  <a:pt x="74295" y="101600"/>
                  <a:pt x="80582" y="101600"/>
                </a:cubicBezTo>
                <a:cubicBezTo>
                  <a:pt x="86868" y="101600"/>
                  <a:pt x="92710" y="105807"/>
                  <a:pt x="95885" y="112554"/>
                </a:cubicBezTo>
                <a:lnTo>
                  <a:pt x="156337" y="242094"/>
                </a:lnTo>
                <a:cubicBezTo>
                  <a:pt x="159957" y="249873"/>
                  <a:pt x="162243" y="258842"/>
                  <a:pt x="160592" y="267573"/>
                </a:cubicBezTo>
                <a:cubicBezTo>
                  <a:pt x="153733" y="303133"/>
                  <a:pt x="120523" y="330200"/>
                  <a:pt x="80582" y="330200"/>
                </a:cubicBezTo>
                <a:cubicBezTo>
                  <a:pt x="40640" y="330200"/>
                  <a:pt x="7429" y="303213"/>
                  <a:pt x="572" y="267573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1905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8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36000" y="2311400"/>
            <a:ext cx="298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Covariance / Market Variance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36000" y="2692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Measures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sensitivity to market movements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Beta &gt; 1 indicates higher volatility than the market; Beta &lt; 1 suggests lower volatility.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255500" y="1079500"/>
            <a:ext cx="3492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55500" y="1079500"/>
            <a:ext cx="3492500" cy="63500"/>
          </a:xfrm>
          <a:prstGeom prst="rect">
            <a:avLst/>
          </a:prstGeom>
          <a:solidFill>
            <a:srgbClr val="0A1C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2509500" y="137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A1C3D"/>
          </a:solidFill>
          <a:ln/>
        </p:spPr>
      </p:sp>
      <p:sp>
        <p:nvSpPr>
          <p:cNvPr id="26" name="Text 24"/>
          <p:cNvSpPr/>
          <p:nvPr/>
        </p:nvSpPr>
        <p:spPr>
          <a:xfrm>
            <a:off x="12509500" y="1905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A1C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Sortino Ratio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09500" y="2311400"/>
            <a:ext cx="298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(Return - Target) / Downside Dev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509500" y="2692400"/>
            <a:ext cx="2984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Focuses on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downside risk-adjusted returns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penalizing only harmful volatility. Preferred by risk-averse investors.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000" y="495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Metric Comparison by Fund Category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5397500"/>
          <a:ext cx="14986000" cy="2413000"/>
        </p:xfrm>
        <a:graphic>
          <a:graphicData uri="http://schemas.openxmlformats.org/drawingml/2006/table">
            <a:tbl>
              <a:tblPr/>
              <a:tblGrid>
                <a:gridCol w="299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Sharpe Ratio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Alpha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Beta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Sortino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Assessment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Large-Cap Equity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2.1%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1.68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Strong risk-adjusted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Mid-Cap Equity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3.4%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return potential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Small-Cap Equity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1.8%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A84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0.89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D4A84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volatility risk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Liquid Funds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2.15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3.42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Lowest risk profile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Fund Performance Analytics, 3-year trailing data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risk and behavioral analytics uncover deep investment patterns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07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498600"/>
            <a:ext cx="1905000" cy="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350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676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 VaR (95%)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Maximum expected loss at 95% confidence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000" y="218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1463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Conditional VaR (CVaR)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Expected loss beyond VaR threshold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000" y="2654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6162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Rolling 90-Day Sharpe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Dynamic risk-adjusted tracking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000" y="3124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8731"/>
                </a:moveTo>
                <a:cubicBezTo>
                  <a:pt x="164758" y="8731"/>
                  <a:pt x="185103" y="34161"/>
                  <a:pt x="185103" y="65484"/>
                </a:cubicBezTo>
                <a:cubicBezTo>
                  <a:pt x="185103" y="96807"/>
                  <a:pt x="164758" y="122238"/>
                  <a:pt x="139700" y="122238"/>
                </a:cubicBezTo>
                <a:cubicBezTo>
                  <a:pt x="114642" y="122238"/>
                  <a:pt x="94298" y="96807"/>
                  <a:pt x="94298" y="65484"/>
                </a:cubicBezTo>
                <a:cubicBezTo>
                  <a:pt x="94298" y="34161"/>
                  <a:pt x="114642" y="8731"/>
                  <a:pt x="139700" y="8731"/>
                </a:cubicBezTo>
                <a:close/>
                <a:moveTo>
                  <a:pt x="41910" y="48022"/>
                </a:moveTo>
                <a:cubicBezTo>
                  <a:pt x="59258" y="48022"/>
                  <a:pt x="73343" y="65627"/>
                  <a:pt x="73343" y="87313"/>
                </a:cubicBezTo>
                <a:cubicBezTo>
                  <a:pt x="73343" y="108998"/>
                  <a:pt x="59258" y="126603"/>
                  <a:pt x="41910" y="126603"/>
                </a:cubicBezTo>
                <a:cubicBezTo>
                  <a:pt x="24562" y="126603"/>
                  <a:pt x="10478" y="108998"/>
                  <a:pt x="10478" y="87313"/>
                </a:cubicBezTo>
                <a:cubicBezTo>
                  <a:pt x="10478" y="65627"/>
                  <a:pt x="24562" y="48022"/>
                  <a:pt x="41910" y="48022"/>
                </a:cubicBezTo>
                <a:close/>
                <a:moveTo>
                  <a:pt x="0" y="227013"/>
                </a:moveTo>
                <a:cubicBezTo>
                  <a:pt x="0" y="188431"/>
                  <a:pt x="25015" y="157163"/>
                  <a:pt x="55880" y="157163"/>
                </a:cubicBezTo>
                <a:cubicBezTo>
                  <a:pt x="61468" y="157163"/>
                  <a:pt x="66881" y="158199"/>
                  <a:pt x="71989" y="160109"/>
                </a:cubicBezTo>
                <a:cubicBezTo>
                  <a:pt x="57626" y="180191"/>
                  <a:pt x="48895" y="206712"/>
                  <a:pt x="48895" y="235744"/>
                </a:cubicBezTo>
                <a:lnTo>
                  <a:pt x="48895" y="244475"/>
                </a:lnTo>
                <a:cubicBezTo>
                  <a:pt x="48895" y="250696"/>
                  <a:pt x="49943" y="256590"/>
                  <a:pt x="51820" y="261938"/>
                </a:cubicBezTo>
                <a:lnTo>
                  <a:pt x="13970" y="261938"/>
                </a:lnTo>
                <a:cubicBezTo>
                  <a:pt x="6243" y="261938"/>
                  <a:pt x="0" y="254134"/>
                  <a:pt x="0" y="244475"/>
                </a:cubicBezTo>
                <a:lnTo>
                  <a:pt x="0" y="227013"/>
                </a:lnTo>
                <a:close/>
                <a:moveTo>
                  <a:pt x="227580" y="261938"/>
                </a:moveTo>
                <a:cubicBezTo>
                  <a:pt x="229457" y="256590"/>
                  <a:pt x="230505" y="250696"/>
                  <a:pt x="230505" y="244475"/>
                </a:cubicBezTo>
                <a:lnTo>
                  <a:pt x="230505" y="235744"/>
                </a:lnTo>
                <a:cubicBezTo>
                  <a:pt x="230505" y="206712"/>
                  <a:pt x="221774" y="180191"/>
                  <a:pt x="207411" y="160109"/>
                </a:cubicBezTo>
                <a:cubicBezTo>
                  <a:pt x="212519" y="158199"/>
                  <a:pt x="217932" y="157163"/>
                  <a:pt x="223520" y="157163"/>
                </a:cubicBezTo>
                <a:cubicBezTo>
                  <a:pt x="254385" y="157163"/>
                  <a:pt x="279400" y="188431"/>
                  <a:pt x="279400" y="227013"/>
                </a:cubicBezTo>
                <a:lnTo>
                  <a:pt x="279400" y="244475"/>
                </a:lnTo>
                <a:cubicBezTo>
                  <a:pt x="279400" y="254134"/>
                  <a:pt x="273157" y="261938"/>
                  <a:pt x="265430" y="261938"/>
                </a:cubicBezTo>
                <a:lnTo>
                  <a:pt x="227580" y="261938"/>
                </a:lnTo>
                <a:close/>
                <a:moveTo>
                  <a:pt x="206058" y="87313"/>
                </a:moveTo>
                <a:cubicBezTo>
                  <a:pt x="206058" y="65627"/>
                  <a:pt x="220142" y="48022"/>
                  <a:pt x="237490" y="48022"/>
                </a:cubicBezTo>
                <a:cubicBezTo>
                  <a:pt x="254838" y="48022"/>
                  <a:pt x="268923" y="65627"/>
                  <a:pt x="268923" y="87312"/>
                </a:cubicBezTo>
                <a:cubicBezTo>
                  <a:pt x="268923" y="108998"/>
                  <a:pt x="254838" y="126603"/>
                  <a:pt x="237490" y="126603"/>
                </a:cubicBezTo>
                <a:cubicBezTo>
                  <a:pt x="220142" y="126603"/>
                  <a:pt x="206058" y="108998"/>
                  <a:pt x="206058" y="87313"/>
                </a:cubicBezTo>
                <a:close/>
                <a:moveTo>
                  <a:pt x="69850" y="235744"/>
                </a:moveTo>
                <a:cubicBezTo>
                  <a:pt x="69850" y="187504"/>
                  <a:pt x="101108" y="148431"/>
                  <a:pt x="139700" y="148431"/>
                </a:cubicBezTo>
                <a:cubicBezTo>
                  <a:pt x="178292" y="148431"/>
                  <a:pt x="209550" y="187504"/>
                  <a:pt x="209550" y="235744"/>
                </a:cubicBezTo>
                <a:lnTo>
                  <a:pt x="209550" y="244475"/>
                </a:lnTo>
                <a:cubicBezTo>
                  <a:pt x="209550" y="254134"/>
                  <a:pt x="203307" y="261938"/>
                  <a:pt x="195580" y="261938"/>
                </a:cubicBezTo>
                <a:lnTo>
                  <a:pt x="83820" y="261938"/>
                </a:lnTo>
                <a:cubicBezTo>
                  <a:pt x="76093" y="261938"/>
                  <a:pt x="69850" y="254134"/>
                  <a:pt x="69850" y="244475"/>
                </a:cubicBezTo>
                <a:lnTo>
                  <a:pt x="69850" y="235744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086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Investor Cohort Analysis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Segment behavior by entry period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000" y="3594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34925"/>
                </a:moveTo>
                <a:cubicBezTo>
                  <a:pt x="191117" y="34925"/>
                  <a:pt x="232833" y="81855"/>
                  <a:pt x="232833" y="139700"/>
                </a:cubicBezTo>
                <a:cubicBezTo>
                  <a:pt x="232833" y="197545"/>
                  <a:pt x="191117" y="244475"/>
                  <a:pt x="139700" y="244475"/>
                </a:cubicBezTo>
                <a:cubicBezTo>
                  <a:pt x="108073" y="244475"/>
                  <a:pt x="80085" y="226740"/>
                  <a:pt x="63253" y="199564"/>
                </a:cubicBezTo>
                <a:cubicBezTo>
                  <a:pt x="58354" y="191651"/>
                  <a:pt x="48652" y="189741"/>
                  <a:pt x="41619" y="195253"/>
                </a:cubicBezTo>
                <a:cubicBezTo>
                  <a:pt x="34585" y="200764"/>
                  <a:pt x="32888" y="211678"/>
                  <a:pt x="37787" y="219591"/>
                </a:cubicBezTo>
                <a:cubicBezTo>
                  <a:pt x="60197" y="255716"/>
                  <a:pt x="97499" y="279400"/>
                  <a:pt x="139700" y="279400"/>
                </a:cubicBezTo>
                <a:cubicBezTo>
                  <a:pt x="208289" y="279400"/>
                  <a:pt x="263878" y="216862"/>
                  <a:pt x="263878" y="139700"/>
                </a:cubicBezTo>
                <a:cubicBezTo>
                  <a:pt x="263878" y="62538"/>
                  <a:pt x="208289" y="0"/>
                  <a:pt x="139700" y="0"/>
                </a:cubicBezTo>
                <a:cubicBezTo>
                  <a:pt x="98130" y="0"/>
                  <a:pt x="61361" y="22974"/>
                  <a:pt x="38806" y="58227"/>
                </a:cubicBezTo>
                <a:lnTo>
                  <a:pt x="38806" y="43656"/>
                </a:lnTo>
                <a:cubicBezTo>
                  <a:pt x="38806" y="33997"/>
                  <a:pt x="31869" y="26194"/>
                  <a:pt x="23283" y="26194"/>
                </a:cubicBezTo>
                <a:cubicBezTo>
                  <a:pt x="14698" y="26194"/>
                  <a:pt x="7761" y="33997"/>
                  <a:pt x="7761" y="43656"/>
                </a:cubicBezTo>
                <a:lnTo>
                  <a:pt x="7761" y="104775"/>
                </a:lnTo>
                <a:cubicBezTo>
                  <a:pt x="7761" y="114434"/>
                  <a:pt x="14698" y="122238"/>
                  <a:pt x="23283" y="122238"/>
                </a:cubicBezTo>
                <a:lnTo>
                  <a:pt x="35216" y="122238"/>
                </a:lnTo>
                <a:cubicBezTo>
                  <a:pt x="35459" y="122238"/>
                  <a:pt x="35701" y="122238"/>
                  <a:pt x="35944" y="122238"/>
                </a:cubicBezTo>
                <a:lnTo>
                  <a:pt x="77660" y="122238"/>
                </a:lnTo>
                <a:cubicBezTo>
                  <a:pt x="86245" y="122238"/>
                  <a:pt x="93182" y="114434"/>
                  <a:pt x="93182" y="104775"/>
                </a:cubicBezTo>
                <a:cubicBezTo>
                  <a:pt x="93182" y="95116"/>
                  <a:pt x="86245" y="87313"/>
                  <a:pt x="77660" y="87313"/>
                </a:cubicBezTo>
                <a:lnTo>
                  <a:pt x="59081" y="87313"/>
                </a:lnTo>
                <a:cubicBezTo>
                  <a:pt x="75137" y="55989"/>
                  <a:pt x="105260" y="34925"/>
                  <a:pt x="139700" y="34925"/>
                </a:cubicBezTo>
                <a:close/>
                <a:moveTo>
                  <a:pt x="151342" y="82947"/>
                </a:moveTo>
                <a:cubicBezTo>
                  <a:pt x="151342" y="75689"/>
                  <a:pt x="146151" y="69850"/>
                  <a:pt x="139700" y="69850"/>
                </a:cubicBezTo>
                <a:cubicBezTo>
                  <a:pt x="133249" y="69850"/>
                  <a:pt x="128058" y="75689"/>
                  <a:pt x="128058" y="82947"/>
                </a:cubicBezTo>
                <a:lnTo>
                  <a:pt x="128058" y="139700"/>
                </a:lnTo>
                <a:cubicBezTo>
                  <a:pt x="128058" y="143192"/>
                  <a:pt x="129271" y="146521"/>
                  <a:pt x="131454" y="148977"/>
                </a:cubicBezTo>
                <a:lnTo>
                  <a:pt x="166379" y="188268"/>
                </a:lnTo>
                <a:cubicBezTo>
                  <a:pt x="170938" y="193397"/>
                  <a:pt x="178312" y="193397"/>
                  <a:pt x="182823" y="188268"/>
                </a:cubicBezTo>
                <a:cubicBezTo>
                  <a:pt x="187334" y="183138"/>
                  <a:pt x="187382" y="174843"/>
                  <a:pt x="182823" y="169768"/>
                </a:cubicBezTo>
                <a:lnTo>
                  <a:pt x="151293" y="134298"/>
                </a:lnTo>
                <a:lnTo>
                  <a:pt x="151293" y="82947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556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SIP Continuity Analysis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Retention and churn prediction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0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48550" y="130969"/>
                </a:moveTo>
                <a:lnTo>
                  <a:pt x="163177" y="130969"/>
                </a:lnTo>
                <a:cubicBezTo>
                  <a:pt x="154592" y="130969"/>
                  <a:pt x="147655" y="123165"/>
                  <a:pt x="147655" y="113506"/>
                </a:cubicBezTo>
                <a:lnTo>
                  <a:pt x="147655" y="17463"/>
                </a:lnTo>
                <a:cubicBezTo>
                  <a:pt x="147655" y="7804"/>
                  <a:pt x="154640" y="-109"/>
                  <a:pt x="163129" y="1146"/>
                </a:cubicBezTo>
                <a:cubicBezTo>
                  <a:pt x="215031" y="8895"/>
                  <a:pt x="256165" y="55171"/>
                  <a:pt x="263053" y="113561"/>
                </a:cubicBezTo>
                <a:cubicBezTo>
                  <a:pt x="264169" y="123111"/>
                  <a:pt x="257135" y="130969"/>
                  <a:pt x="248550" y="130969"/>
                </a:cubicBezTo>
                <a:close/>
                <a:moveTo>
                  <a:pt x="107976" y="20300"/>
                </a:moveTo>
                <a:cubicBezTo>
                  <a:pt x="116756" y="18226"/>
                  <a:pt x="124372" y="26303"/>
                  <a:pt x="124372" y="36398"/>
                </a:cubicBezTo>
                <a:lnTo>
                  <a:pt x="124372" y="144066"/>
                </a:lnTo>
                <a:cubicBezTo>
                  <a:pt x="124372" y="147122"/>
                  <a:pt x="125342" y="150068"/>
                  <a:pt x="127040" y="152415"/>
                </a:cubicBezTo>
                <a:lnTo>
                  <a:pt x="191117" y="239400"/>
                </a:lnTo>
                <a:cubicBezTo>
                  <a:pt x="196793" y="247094"/>
                  <a:pt x="195580" y="258718"/>
                  <a:pt x="187770" y="263465"/>
                </a:cubicBezTo>
                <a:cubicBezTo>
                  <a:pt x="171230" y="273616"/>
                  <a:pt x="152263" y="279400"/>
                  <a:pt x="132133" y="279400"/>
                </a:cubicBezTo>
                <a:cubicBezTo>
                  <a:pt x="67861" y="279400"/>
                  <a:pt x="15716" y="220737"/>
                  <a:pt x="15716" y="148431"/>
                </a:cubicBezTo>
                <a:cubicBezTo>
                  <a:pt x="15716" y="85403"/>
                  <a:pt x="55249" y="32797"/>
                  <a:pt x="107976" y="20300"/>
                </a:cubicBezTo>
                <a:close/>
                <a:moveTo>
                  <a:pt x="231766" y="157163"/>
                </a:moveTo>
                <a:lnTo>
                  <a:pt x="262811" y="157163"/>
                </a:lnTo>
                <a:cubicBezTo>
                  <a:pt x="271784" y="157163"/>
                  <a:pt x="278963" y="165730"/>
                  <a:pt x="277120" y="175607"/>
                </a:cubicBezTo>
                <a:cubicBezTo>
                  <a:pt x="272172" y="202019"/>
                  <a:pt x="260143" y="225485"/>
                  <a:pt x="243359" y="243384"/>
                </a:cubicBezTo>
                <a:cubicBezTo>
                  <a:pt x="237393" y="249768"/>
                  <a:pt x="228031" y="248404"/>
                  <a:pt x="222792" y="241255"/>
                </a:cubicBezTo>
                <a:lnTo>
                  <a:pt x="181853" y="185757"/>
                </a:lnTo>
                <a:cubicBezTo>
                  <a:pt x="173461" y="174352"/>
                  <a:pt x="180688" y="157163"/>
                  <a:pt x="193785" y="157163"/>
                </a:cubicBezTo>
                <a:lnTo>
                  <a:pt x="231718" y="157163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0259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 HHI Concentration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Portfolio diversification scoring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000" y="4533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7767" y="-14734"/>
                </a:moveTo>
                <a:lnTo>
                  <a:pt x="134946" y="5348"/>
                </a:lnTo>
                <a:lnTo>
                  <a:pt x="152797" y="13424"/>
                </a:lnTo>
                <a:cubicBezTo>
                  <a:pt x="154252" y="14079"/>
                  <a:pt x="155222" y="15716"/>
                  <a:pt x="155222" y="17463"/>
                </a:cubicBezTo>
                <a:cubicBezTo>
                  <a:pt x="155222" y="19209"/>
                  <a:pt x="154252" y="20846"/>
                  <a:pt x="152797" y="21501"/>
                </a:cubicBezTo>
                <a:lnTo>
                  <a:pt x="134946" y="29577"/>
                </a:lnTo>
                <a:lnTo>
                  <a:pt x="127767" y="49659"/>
                </a:lnTo>
                <a:cubicBezTo>
                  <a:pt x="127185" y="51296"/>
                  <a:pt x="125730" y="52388"/>
                  <a:pt x="124178" y="52388"/>
                </a:cubicBezTo>
                <a:cubicBezTo>
                  <a:pt x="122626" y="52388"/>
                  <a:pt x="121170" y="51296"/>
                  <a:pt x="120588" y="49659"/>
                </a:cubicBezTo>
                <a:lnTo>
                  <a:pt x="113409" y="29577"/>
                </a:lnTo>
                <a:lnTo>
                  <a:pt x="95559" y="21501"/>
                </a:lnTo>
                <a:cubicBezTo>
                  <a:pt x="94103" y="20846"/>
                  <a:pt x="93133" y="19209"/>
                  <a:pt x="93133" y="17463"/>
                </a:cubicBezTo>
                <a:cubicBezTo>
                  <a:pt x="93133" y="15716"/>
                  <a:pt x="94103" y="14079"/>
                  <a:pt x="95559" y="13424"/>
                </a:cubicBezTo>
                <a:lnTo>
                  <a:pt x="113409" y="5348"/>
                </a:lnTo>
                <a:lnTo>
                  <a:pt x="120588" y="-14734"/>
                </a:lnTo>
                <a:cubicBezTo>
                  <a:pt x="121170" y="-16371"/>
                  <a:pt x="122626" y="-17462"/>
                  <a:pt x="124178" y="-17462"/>
                </a:cubicBezTo>
                <a:cubicBezTo>
                  <a:pt x="125730" y="-17462"/>
                  <a:pt x="127185" y="-16371"/>
                  <a:pt x="127767" y="-14734"/>
                </a:cubicBezTo>
                <a:close/>
                <a:moveTo>
                  <a:pt x="53697" y="22756"/>
                </a:moveTo>
                <a:lnTo>
                  <a:pt x="64126" y="50096"/>
                </a:lnTo>
                <a:lnTo>
                  <a:pt x="88428" y="61828"/>
                </a:lnTo>
                <a:cubicBezTo>
                  <a:pt x="91290" y="63192"/>
                  <a:pt x="93133" y="66358"/>
                  <a:pt x="93133" y="69850"/>
                </a:cubicBezTo>
                <a:cubicBezTo>
                  <a:pt x="93133" y="73342"/>
                  <a:pt x="91290" y="76508"/>
                  <a:pt x="88428" y="77872"/>
                </a:cubicBezTo>
                <a:lnTo>
                  <a:pt x="64126" y="89604"/>
                </a:lnTo>
                <a:lnTo>
                  <a:pt x="53697" y="116944"/>
                </a:lnTo>
                <a:cubicBezTo>
                  <a:pt x="52485" y="120164"/>
                  <a:pt x="49671" y="122237"/>
                  <a:pt x="46567" y="122237"/>
                </a:cubicBezTo>
                <a:cubicBezTo>
                  <a:pt x="43462" y="122237"/>
                  <a:pt x="40649" y="120164"/>
                  <a:pt x="39436" y="116944"/>
                </a:cubicBezTo>
                <a:lnTo>
                  <a:pt x="29007" y="89604"/>
                </a:lnTo>
                <a:lnTo>
                  <a:pt x="4705" y="77872"/>
                </a:lnTo>
                <a:cubicBezTo>
                  <a:pt x="1843" y="76508"/>
                  <a:pt x="0" y="73343"/>
                  <a:pt x="0" y="69850"/>
                </a:cubicBezTo>
                <a:cubicBezTo>
                  <a:pt x="0" y="66358"/>
                  <a:pt x="1843" y="63192"/>
                  <a:pt x="4705" y="61828"/>
                </a:cubicBezTo>
                <a:lnTo>
                  <a:pt x="29007" y="50096"/>
                </a:lnTo>
                <a:lnTo>
                  <a:pt x="39436" y="22756"/>
                </a:lnTo>
                <a:cubicBezTo>
                  <a:pt x="40649" y="19536"/>
                  <a:pt x="43462" y="17463"/>
                  <a:pt x="46567" y="17463"/>
                </a:cubicBezTo>
                <a:cubicBezTo>
                  <a:pt x="49671" y="17463"/>
                  <a:pt x="52485" y="19536"/>
                  <a:pt x="53697" y="22756"/>
                </a:cubicBezTo>
                <a:close/>
                <a:moveTo>
                  <a:pt x="225072" y="165894"/>
                </a:moveTo>
                <a:cubicBezTo>
                  <a:pt x="228177" y="165894"/>
                  <a:pt x="230990" y="167967"/>
                  <a:pt x="232203" y="171187"/>
                </a:cubicBezTo>
                <a:lnTo>
                  <a:pt x="242632" y="198527"/>
                </a:lnTo>
                <a:lnTo>
                  <a:pt x="266934" y="210259"/>
                </a:lnTo>
                <a:cubicBezTo>
                  <a:pt x="269796" y="211624"/>
                  <a:pt x="271639" y="214789"/>
                  <a:pt x="271639" y="218281"/>
                </a:cubicBezTo>
                <a:cubicBezTo>
                  <a:pt x="271639" y="221774"/>
                  <a:pt x="269796" y="224939"/>
                  <a:pt x="266934" y="226303"/>
                </a:cubicBezTo>
                <a:lnTo>
                  <a:pt x="242632" y="238036"/>
                </a:lnTo>
                <a:lnTo>
                  <a:pt x="232203" y="265375"/>
                </a:lnTo>
                <a:cubicBezTo>
                  <a:pt x="230990" y="268595"/>
                  <a:pt x="228177" y="270669"/>
                  <a:pt x="225072" y="270669"/>
                </a:cubicBezTo>
                <a:cubicBezTo>
                  <a:pt x="221968" y="270669"/>
                  <a:pt x="219154" y="268595"/>
                  <a:pt x="217942" y="265375"/>
                </a:cubicBezTo>
                <a:lnTo>
                  <a:pt x="207513" y="238036"/>
                </a:lnTo>
                <a:lnTo>
                  <a:pt x="183211" y="226303"/>
                </a:lnTo>
                <a:cubicBezTo>
                  <a:pt x="180349" y="224939"/>
                  <a:pt x="178506" y="221774"/>
                  <a:pt x="178506" y="218281"/>
                </a:cubicBezTo>
                <a:cubicBezTo>
                  <a:pt x="178506" y="214789"/>
                  <a:pt x="180349" y="211624"/>
                  <a:pt x="183211" y="210259"/>
                </a:cubicBezTo>
                <a:lnTo>
                  <a:pt x="207513" y="198527"/>
                </a:lnTo>
                <a:lnTo>
                  <a:pt x="217942" y="171187"/>
                </a:lnTo>
                <a:cubicBezTo>
                  <a:pt x="219154" y="167967"/>
                  <a:pt x="221968" y="165894"/>
                  <a:pt x="225072" y="165894"/>
                </a:cubicBezTo>
                <a:close/>
                <a:moveTo>
                  <a:pt x="223132" y="0"/>
                </a:moveTo>
                <a:cubicBezTo>
                  <a:pt x="228468" y="0"/>
                  <a:pt x="233609" y="2401"/>
                  <a:pt x="237441" y="6658"/>
                </a:cubicBezTo>
                <a:lnTo>
                  <a:pt x="257960" y="29741"/>
                </a:lnTo>
                <a:cubicBezTo>
                  <a:pt x="261743" y="34052"/>
                  <a:pt x="263878" y="39836"/>
                  <a:pt x="263878" y="45839"/>
                </a:cubicBezTo>
                <a:cubicBezTo>
                  <a:pt x="263878" y="51842"/>
                  <a:pt x="261743" y="57626"/>
                  <a:pt x="257960" y="61937"/>
                </a:cubicBezTo>
                <a:lnTo>
                  <a:pt x="215177" y="110068"/>
                </a:lnTo>
                <a:lnTo>
                  <a:pt x="166039" y="54789"/>
                </a:lnTo>
                <a:lnTo>
                  <a:pt x="208822" y="6658"/>
                </a:lnTo>
                <a:cubicBezTo>
                  <a:pt x="212654" y="2401"/>
                  <a:pt x="217796" y="0"/>
                  <a:pt x="223132" y="0"/>
                </a:cubicBezTo>
                <a:close/>
                <a:moveTo>
                  <a:pt x="21440" y="217463"/>
                </a:moveTo>
                <a:lnTo>
                  <a:pt x="149595" y="73288"/>
                </a:lnTo>
                <a:lnTo>
                  <a:pt x="198733" y="128568"/>
                </a:lnTo>
                <a:lnTo>
                  <a:pt x="70578" y="272742"/>
                </a:lnTo>
                <a:cubicBezTo>
                  <a:pt x="66746" y="276999"/>
                  <a:pt x="61604" y="279400"/>
                  <a:pt x="56268" y="279400"/>
                </a:cubicBezTo>
                <a:cubicBezTo>
                  <a:pt x="50932" y="279400"/>
                  <a:pt x="45791" y="276999"/>
                  <a:pt x="41959" y="272742"/>
                </a:cubicBezTo>
                <a:lnTo>
                  <a:pt x="21440" y="249659"/>
                </a:lnTo>
                <a:cubicBezTo>
                  <a:pt x="17657" y="245348"/>
                  <a:pt x="15522" y="239564"/>
                  <a:pt x="15522" y="233561"/>
                </a:cubicBezTo>
                <a:cubicBezTo>
                  <a:pt x="15522" y="227558"/>
                  <a:pt x="17657" y="221774"/>
                  <a:pt x="21440" y="217463"/>
                </a:cubicBezTo>
                <a:close/>
              </a:path>
            </a:pathLst>
          </a:custGeom>
          <a:solidFill>
            <a:srgbClr val="0A1C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4958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Recommendation Engine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Risk-appetite based fund scoring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5000" y="5270500"/>
            <a:ext cx="15113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Sample Risk Metrics Output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9000" y="5842000"/>
          <a:ext cx="14605000" cy="177800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Scheme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 95%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CVaR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Roll. Sharpe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HHI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Risk Level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Large-Cap Fund 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-2.1%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-3.4%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1.24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Small-Cap Fund B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A84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-4.8%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A84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-7.2%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0.28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D4A84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Liquid Fund C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-0.1%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-0.2%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2.15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B2D5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Advanced Risk Analytics Module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586675A-C9CD-B9BD-B05A-83484FA0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902" y="990600"/>
            <a:ext cx="7649359" cy="407965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dashboards deliver interactive fund overview and performance analytics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2794000" cy="4064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10795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Page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56000" y="10795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Mutual Fund 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5000" y="1651000"/>
            <a:ext cx="7366000" cy="4699000"/>
          </a:xfrm>
          <a:prstGeom prst="rect">
            <a:avLst/>
          </a:prstGeom>
          <a:solidFill>
            <a:srgbClr val="EDF1F8"/>
          </a:solidFill>
          <a:ln w="12700"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7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436563"/>
                </a:lnTo>
                <a:cubicBezTo>
                  <a:pt x="0" y="480343"/>
                  <a:pt x="35595" y="515937"/>
                  <a:pt x="79375" y="515937"/>
                </a:cubicBezTo>
                <a:lnTo>
                  <a:pt x="257969" y="515937"/>
                </a:lnTo>
                <a:lnTo>
                  <a:pt x="238125" y="575469"/>
                </a:lnTo>
                <a:lnTo>
                  <a:pt x="148828" y="575469"/>
                </a:lnTo>
                <a:cubicBezTo>
                  <a:pt x="132333" y="575469"/>
                  <a:pt x="119062" y="588739"/>
                  <a:pt x="119062" y="605234"/>
                </a:cubicBezTo>
                <a:cubicBezTo>
                  <a:pt x="119062" y="621729"/>
                  <a:pt x="132333" y="635000"/>
                  <a:pt x="148828" y="635000"/>
                </a:cubicBezTo>
                <a:lnTo>
                  <a:pt x="486172" y="635000"/>
                </a:lnTo>
                <a:cubicBezTo>
                  <a:pt x="502667" y="635000"/>
                  <a:pt x="515937" y="621729"/>
                  <a:pt x="515937" y="605234"/>
                </a:cubicBezTo>
                <a:cubicBezTo>
                  <a:pt x="515937" y="588739"/>
                  <a:pt x="502667" y="575469"/>
                  <a:pt x="486172" y="575469"/>
                </a:cubicBezTo>
                <a:lnTo>
                  <a:pt x="396875" y="575469"/>
                </a:lnTo>
                <a:lnTo>
                  <a:pt x="377031" y="515937"/>
                </a:lnTo>
                <a:lnTo>
                  <a:pt x="555625" y="515937"/>
                </a:lnTo>
                <a:cubicBezTo>
                  <a:pt x="599405" y="515937"/>
                  <a:pt x="635000" y="480343"/>
                  <a:pt x="635000" y="436563"/>
                </a:cubicBezTo>
                <a:lnTo>
                  <a:pt x="635000" y="119062"/>
                </a:lnTo>
                <a:cubicBezTo>
                  <a:pt x="635000" y="75282"/>
                  <a:pt x="599405" y="39688"/>
                  <a:pt x="555625" y="39688"/>
                </a:cubicBezTo>
                <a:lnTo>
                  <a:pt x="79375" y="39688"/>
                </a:lnTo>
                <a:close/>
                <a:moveTo>
                  <a:pt x="119062" y="119062"/>
                </a:moveTo>
                <a:lnTo>
                  <a:pt x="515937" y="119062"/>
                </a:lnTo>
                <a:cubicBezTo>
                  <a:pt x="537890" y="119062"/>
                  <a:pt x="555625" y="136798"/>
                  <a:pt x="555625" y="158750"/>
                </a:cubicBezTo>
                <a:lnTo>
                  <a:pt x="555625" y="357188"/>
                </a:lnTo>
                <a:cubicBezTo>
                  <a:pt x="555625" y="379140"/>
                  <a:pt x="537890" y="396875"/>
                  <a:pt x="515937" y="396875"/>
                </a:cubicBezTo>
                <a:lnTo>
                  <a:pt x="119062" y="396875"/>
                </a:lnTo>
                <a:cubicBezTo>
                  <a:pt x="97110" y="396875"/>
                  <a:pt x="79375" y="379140"/>
                  <a:pt x="79375" y="357188"/>
                </a:cubicBezTo>
                <a:lnTo>
                  <a:pt x="79375" y="158750"/>
                </a:lnTo>
                <a:cubicBezTo>
                  <a:pt x="79375" y="136798"/>
                  <a:pt x="97110" y="119062"/>
                  <a:pt x="119062" y="119062"/>
                </a:cubicBezTo>
                <a:close/>
              </a:path>
            </a:pathLst>
          </a:custGeom>
          <a:solidFill>
            <a:srgbClr val="7A8BA7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4064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Dashboard Page 1 Screenshot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0000" y="4635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AUM, Total Schemes, Category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000" y="6477000"/>
            <a:ext cx="736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Total AUM tracker with month-over-month change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Scheme count by category (Equity, Debt, Hybrid, Liquid)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Interactive category drill-down with filter slicers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Top performing schemes ranked by 1Y/3Y/5Y returns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1079500"/>
            <a:ext cx="2794000" cy="4064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0795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Page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03000" y="10795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5AA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Analytics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651000"/>
            <a:ext cx="7366000" cy="4699000"/>
          </a:xfrm>
          <a:prstGeom prst="rect">
            <a:avLst/>
          </a:prstGeom>
          <a:solidFill>
            <a:srgbClr val="EDF1F8"/>
          </a:solidFill>
          <a:ln w="12700"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84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436563"/>
                </a:lnTo>
                <a:cubicBezTo>
                  <a:pt x="0" y="480343"/>
                  <a:pt x="35595" y="515937"/>
                  <a:pt x="79375" y="515937"/>
                </a:cubicBezTo>
                <a:lnTo>
                  <a:pt x="257969" y="515937"/>
                </a:lnTo>
                <a:lnTo>
                  <a:pt x="238125" y="575469"/>
                </a:lnTo>
                <a:lnTo>
                  <a:pt x="148828" y="575469"/>
                </a:lnTo>
                <a:cubicBezTo>
                  <a:pt x="132333" y="575469"/>
                  <a:pt x="119062" y="588739"/>
                  <a:pt x="119062" y="605234"/>
                </a:cubicBezTo>
                <a:cubicBezTo>
                  <a:pt x="119062" y="621729"/>
                  <a:pt x="132333" y="635000"/>
                  <a:pt x="148828" y="635000"/>
                </a:cubicBezTo>
                <a:lnTo>
                  <a:pt x="486172" y="635000"/>
                </a:lnTo>
                <a:cubicBezTo>
                  <a:pt x="502667" y="635000"/>
                  <a:pt x="515937" y="621729"/>
                  <a:pt x="515937" y="605234"/>
                </a:cubicBezTo>
                <a:cubicBezTo>
                  <a:pt x="515937" y="588739"/>
                  <a:pt x="502667" y="575469"/>
                  <a:pt x="486172" y="575469"/>
                </a:cubicBezTo>
                <a:lnTo>
                  <a:pt x="396875" y="575469"/>
                </a:lnTo>
                <a:lnTo>
                  <a:pt x="377031" y="515937"/>
                </a:lnTo>
                <a:lnTo>
                  <a:pt x="555625" y="515937"/>
                </a:lnTo>
                <a:cubicBezTo>
                  <a:pt x="599405" y="515937"/>
                  <a:pt x="635000" y="480343"/>
                  <a:pt x="635000" y="436563"/>
                </a:cubicBezTo>
                <a:lnTo>
                  <a:pt x="635000" y="119062"/>
                </a:lnTo>
                <a:cubicBezTo>
                  <a:pt x="635000" y="75282"/>
                  <a:pt x="599405" y="39688"/>
                  <a:pt x="555625" y="39688"/>
                </a:cubicBezTo>
                <a:lnTo>
                  <a:pt x="79375" y="39688"/>
                </a:lnTo>
                <a:close/>
                <a:moveTo>
                  <a:pt x="119062" y="119062"/>
                </a:moveTo>
                <a:lnTo>
                  <a:pt x="515937" y="119062"/>
                </a:lnTo>
                <a:cubicBezTo>
                  <a:pt x="537890" y="119062"/>
                  <a:pt x="555625" y="136798"/>
                  <a:pt x="555625" y="158750"/>
                </a:cubicBezTo>
                <a:lnTo>
                  <a:pt x="555625" y="357188"/>
                </a:lnTo>
                <a:cubicBezTo>
                  <a:pt x="555625" y="379140"/>
                  <a:pt x="537890" y="396875"/>
                  <a:pt x="515937" y="396875"/>
                </a:cubicBezTo>
                <a:lnTo>
                  <a:pt x="119062" y="396875"/>
                </a:lnTo>
                <a:cubicBezTo>
                  <a:pt x="97110" y="396875"/>
                  <a:pt x="79375" y="379140"/>
                  <a:pt x="79375" y="357188"/>
                </a:cubicBezTo>
                <a:lnTo>
                  <a:pt x="79375" y="158750"/>
                </a:lnTo>
                <a:cubicBezTo>
                  <a:pt x="79375" y="136798"/>
                  <a:pt x="97110" y="119062"/>
                  <a:pt x="119062" y="119062"/>
                </a:cubicBezTo>
                <a:close/>
              </a:path>
            </a:pathLst>
          </a:custGeom>
          <a:solidFill>
            <a:srgbClr val="7A8BA7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4064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Dashboard Page 2 Screenshot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17000" y="4635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Benchmark Comparisons, Risk Metrics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6477000"/>
            <a:ext cx="736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Benchmark comparison vs Nifty 50, Sensex, category averages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Risk-return scatter plot with Sharpe Ratio contours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Rolling performance tracker with volatility bands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Alpha-Beta decomposition analysis panel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Power BI Dashboard Suite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416CF6-AEE1-C25B-C4E5-E883FDC8C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651000"/>
            <a:ext cx="7366000" cy="4699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2548F9-91DF-39EB-4074-D80CF075B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651001"/>
            <a:ext cx="7365999" cy="4699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 insights and risk analytics dashboards enable targeted decision-making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2794000" cy="406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10795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Page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56000" y="10795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84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Investor Cohort Insights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5000" y="1651000"/>
            <a:ext cx="7366000" cy="4699000"/>
          </a:xfrm>
          <a:prstGeom prst="rect">
            <a:avLst/>
          </a:prstGeom>
          <a:solidFill>
            <a:srgbClr val="EDF1F8"/>
          </a:solidFill>
          <a:ln w="12700"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7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436563"/>
                </a:lnTo>
                <a:cubicBezTo>
                  <a:pt x="0" y="480343"/>
                  <a:pt x="35595" y="515937"/>
                  <a:pt x="79375" y="515937"/>
                </a:cubicBezTo>
                <a:lnTo>
                  <a:pt x="257969" y="515937"/>
                </a:lnTo>
                <a:lnTo>
                  <a:pt x="238125" y="575469"/>
                </a:lnTo>
                <a:lnTo>
                  <a:pt x="148828" y="575469"/>
                </a:lnTo>
                <a:cubicBezTo>
                  <a:pt x="132333" y="575469"/>
                  <a:pt x="119062" y="588739"/>
                  <a:pt x="119062" y="605234"/>
                </a:cubicBezTo>
                <a:cubicBezTo>
                  <a:pt x="119062" y="621729"/>
                  <a:pt x="132333" y="635000"/>
                  <a:pt x="148828" y="635000"/>
                </a:cubicBezTo>
                <a:lnTo>
                  <a:pt x="486172" y="635000"/>
                </a:lnTo>
                <a:cubicBezTo>
                  <a:pt x="502667" y="635000"/>
                  <a:pt x="515937" y="621729"/>
                  <a:pt x="515937" y="605234"/>
                </a:cubicBezTo>
                <a:cubicBezTo>
                  <a:pt x="515937" y="588739"/>
                  <a:pt x="502667" y="575469"/>
                  <a:pt x="486172" y="575469"/>
                </a:cubicBezTo>
                <a:lnTo>
                  <a:pt x="396875" y="575469"/>
                </a:lnTo>
                <a:lnTo>
                  <a:pt x="377031" y="515937"/>
                </a:lnTo>
                <a:lnTo>
                  <a:pt x="555625" y="515937"/>
                </a:lnTo>
                <a:cubicBezTo>
                  <a:pt x="599405" y="515937"/>
                  <a:pt x="635000" y="480343"/>
                  <a:pt x="635000" y="436563"/>
                </a:cubicBezTo>
                <a:lnTo>
                  <a:pt x="635000" y="119062"/>
                </a:lnTo>
                <a:cubicBezTo>
                  <a:pt x="635000" y="75282"/>
                  <a:pt x="599405" y="39688"/>
                  <a:pt x="555625" y="39688"/>
                </a:cubicBezTo>
                <a:lnTo>
                  <a:pt x="79375" y="39688"/>
                </a:lnTo>
                <a:close/>
                <a:moveTo>
                  <a:pt x="119062" y="119062"/>
                </a:moveTo>
                <a:lnTo>
                  <a:pt x="515937" y="119062"/>
                </a:lnTo>
                <a:cubicBezTo>
                  <a:pt x="537890" y="119062"/>
                  <a:pt x="555625" y="136798"/>
                  <a:pt x="555625" y="158750"/>
                </a:cubicBezTo>
                <a:lnTo>
                  <a:pt x="555625" y="357188"/>
                </a:lnTo>
                <a:cubicBezTo>
                  <a:pt x="555625" y="379140"/>
                  <a:pt x="537890" y="396875"/>
                  <a:pt x="515937" y="396875"/>
                </a:cubicBezTo>
                <a:lnTo>
                  <a:pt x="119062" y="396875"/>
                </a:lnTo>
                <a:cubicBezTo>
                  <a:pt x="97110" y="396875"/>
                  <a:pt x="79375" y="379140"/>
                  <a:pt x="79375" y="357188"/>
                </a:cubicBezTo>
                <a:lnTo>
                  <a:pt x="79375" y="158750"/>
                </a:lnTo>
                <a:cubicBezTo>
                  <a:pt x="79375" y="136798"/>
                  <a:pt x="97110" y="119062"/>
                  <a:pt x="119062" y="119062"/>
                </a:cubicBezTo>
                <a:close/>
              </a:path>
            </a:pathLst>
          </a:custGeom>
          <a:solidFill>
            <a:srgbClr val="7A8BA7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4064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Dashboard Page 3 Screenshot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0000" y="4635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SIP Trends, Investor Segmentation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000" y="6477000"/>
            <a:ext cx="736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Cohort analysis by entry year with retention curves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SIP trend visualization with continuation rates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Investor segmentation by age, income, risk profile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Churn risk scoring with early warning indicators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1079500"/>
            <a:ext cx="2794000" cy="406400"/>
          </a:xfrm>
          <a:prstGeom prst="rect">
            <a:avLst/>
          </a:prstGeom>
          <a:solidFill>
            <a:srgbClr val="0A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0795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Page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03000" y="10795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A1C3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Risk Metrics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651000"/>
            <a:ext cx="7366000" cy="4699000"/>
          </a:xfrm>
          <a:prstGeom prst="rect">
            <a:avLst/>
          </a:prstGeom>
          <a:solidFill>
            <a:srgbClr val="EDF1F8"/>
          </a:solidFill>
          <a:ln w="12700"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84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436563"/>
                </a:lnTo>
                <a:cubicBezTo>
                  <a:pt x="0" y="480343"/>
                  <a:pt x="35595" y="515937"/>
                  <a:pt x="79375" y="515937"/>
                </a:cubicBezTo>
                <a:lnTo>
                  <a:pt x="257969" y="515937"/>
                </a:lnTo>
                <a:lnTo>
                  <a:pt x="238125" y="575469"/>
                </a:lnTo>
                <a:lnTo>
                  <a:pt x="148828" y="575469"/>
                </a:lnTo>
                <a:cubicBezTo>
                  <a:pt x="132333" y="575469"/>
                  <a:pt x="119062" y="588739"/>
                  <a:pt x="119062" y="605234"/>
                </a:cubicBezTo>
                <a:cubicBezTo>
                  <a:pt x="119062" y="621729"/>
                  <a:pt x="132333" y="635000"/>
                  <a:pt x="148828" y="635000"/>
                </a:cubicBezTo>
                <a:lnTo>
                  <a:pt x="486172" y="635000"/>
                </a:lnTo>
                <a:cubicBezTo>
                  <a:pt x="502667" y="635000"/>
                  <a:pt x="515937" y="621729"/>
                  <a:pt x="515937" y="605234"/>
                </a:cubicBezTo>
                <a:cubicBezTo>
                  <a:pt x="515937" y="588739"/>
                  <a:pt x="502667" y="575469"/>
                  <a:pt x="486172" y="575469"/>
                </a:cubicBezTo>
                <a:lnTo>
                  <a:pt x="396875" y="575469"/>
                </a:lnTo>
                <a:lnTo>
                  <a:pt x="377031" y="515937"/>
                </a:lnTo>
                <a:lnTo>
                  <a:pt x="555625" y="515937"/>
                </a:lnTo>
                <a:cubicBezTo>
                  <a:pt x="599405" y="515937"/>
                  <a:pt x="635000" y="480343"/>
                  <a:pt x="635000" y="436563"/>
                </a:cubicBezTo>
                <a:lnTo>
                  <a:pt x="635000" y="119062"/>
                </a:lnTo>
                <a:cubicBezTo>
                  <a:pt x="635000" y="75282"/>
                  <a:pt x="599405" y="39688"/>
                  <a:pt x="555625" y="39688"/>
                </a:cubicBezTo>
                <a:lnTo>
                  <a:pt x="79375" y="39688"/>
                </a:lnTo>
                <a:close/>
                <a:moveTo>
                  <a:pt x="119062" y="119062"/>
                </a:moveTo>
                <a:lnTo>
                  <a:pt x="515937" y="119062"/>
                </a:lnTo>
                <a:cubicBezTo>
                  <a:pt x="537890" y="119062"/>
                  <a:pt x="555625" y="136798"/>
                  <a:pt x="555625" y="158750"/>
                </a:cubicBezTo>
                <a:lnTo>
                  <a:pt x="555625" y="357188"/>
                </a:lnTo>
                <a:cubicBezTo>
                  <a:pt x="555625" y="379140"/>
                  <a:pt x="537890" y="396875"/>
                  <a:pt x="515937" y="396875"/>
                </a:cubicBezTo>
                <a:lnTo>
                  <a:pt x="119062" y="396875"/>
                </a:lnTo>
                <a:cubicBezTo>
                  <a:pt x="97110" y="396875"/>
                  <a:pt x="79375" y="379140"/>
                  <a:pt x="79375" y="357188"/>
                </a:cubicBezTo>
                <a:lnTo>
                  <a:pt x="79375" y="158750"/>
                </a:lnTo>
                <a:cubicBezTo>
                  <a:pt x="79375" y="136798"/>
                  <a:pt x="97110" y="119062"/>
                  <a:pt x="119062" y="119062"/>
                </a:cubicBezTo>
                <a:close/>
              </a:path>
            </a:pathLst>
          </a:custGeom>
          <a:solidFill>
            <a:srgbClr val="7A8BA7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4064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 Dashboard Page 4 Screenshot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17000" y="4635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7A8B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Concentration Analysis, Interactive Filtering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6477000"/>
            <a:ext cx="736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Sector HHI concentration heat map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VaR/CVaR distribution with scenario analysis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Interactive filtering by fund, date, risk level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Portfolio stress testing simulation panel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Power BI Dashboard Suite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C627D8-92B9-BEE5-98D2-CFEC98B19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668232"/>
            <a:ext cx="7366000" cy="46817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DA307B7-8C72-A6C9-FA56-11EE9C5E0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651000"/>
            <a:ext cx="7365999" cy="46989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critical findings shape the mutual fund investment strategy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349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3492500" cy="6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5"/>
          <p:cNvSpPr/>
          <p:nvPr/>
        </p:nvSpPr>
        <p:spPr>
          <a:xfrm>
            <a:off x="889000" y="133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244475"/>
                </a:moveTo>
                <a:cubicBezTo>
                  <a:pt x="226139" y="244475"/>
                  <a:pt x="217311" y="254407"/>
                  <a:pt x="217311" y="266700"/>
                </a:cubicBezTo>
                <a:cubicBezTo>
                  <a:pt x="217311" y="278993"/>
                  <a:pt x="226139" y="288925"/>
                  <a:pt x="237067" y="288925"/>
                </a:cubicBezTo>
                <a:lnTo>
                  <a:pt x="335844" y="288925"/>
                </a:lnTo>
                <a:cubicBezTo>
                  <a:pt x="346772" y="288925"/>
                  <a:pt x="355600" y="278993"/>
                  <a:pt x="355600" y="266700"/>
                </a:cubicBezTo>
                <a:lnTo>
                  <a:pt x="355600" y="155575"/>
                </a:lnTo>
                <a:cubicBezTo>
                  <a:pt x="355600" y="143282"/>
                  <a:pt x="346772" y="133350"/>
                  <a:pt x="335844" y="133350"/>
                </a:cubicBezTo>
                <a:cubicBezTo>
                  <a:pt x="324917" y="133350"/>
                  <a:pt x="316089" y="143282"/>
                  <a:pt x="316089" y="155575"/>
                </a:cubicBezTo>
                <a:lnTo>
                  <a:pt x="316089" y="213013"/>
                </a:lnTo>
                <a:lnTo>
                  <a:pt x="211508" y="95359"/>
                </a:lnTo>
                <a:cubicBezTo>
                  <a:pt x="203791" y="86678"/>
                  <a:pt x="191258" y="86678"/>
                  <a:pt x="183541" y="95359"/>
                </a:cubicBezTo>
                <a:lnTo>
                  <a:pt x="118533" y="168563"/>
                </a:lnTo>
                <a:lnTo>
                  <a:pt x="33708" y="73204"/>
                </a:lnTo>
                <a:cubicBezTo>
                  <a:pt x="25991" y="64522"/>
                  <a:pt x="13458" y="64522"/>
                  <a:pt x="5741" y="73204"/>
                </a:cubicBezTo>
                <a:cubicBezTo>
                  <a:pt x="-1976" y="81885"/>
                  <a:pt x="-1976" y="95984"/>
                  <a:pt x="5741" y="104666"/>
                </a:cubicBezTo>
                <a:lnTo>
                  <a:pt x="104519" y="215791"/>
                </a:lnTo>
                <a:cubicBezTo>
                  <a:pt x="112236" y="224473"/>
                  <a:pt x="124769" y="224473"/>
                  <a:pt x="132486" y="215791"/>
                </a:cubicBezTo>
                <a:lnTo>
                  <a:pt x="197556" y="142587"/>
                </a:lnTo>
                <a:lnTo>
                  <a:pt x="288122" y="244475"/>
                </a:lnTo>
                <a:lnTo>
                  <a:pt x="237067" y="244475"/>
                </a:ln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18034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Small-Cap Downside Risk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9000" y="22606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Small-cap funds exhibited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downside risk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VaR 95% averaging -4.8% and significant volatility spikes during market corrections.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08500" y="1079500"/>
            <a:ext cx="349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8500" y="1079500"/>
            <a:ext cx="34925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2500" y="133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500" y="18034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Liquid Fund Stability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0" y="22606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Liquid funds demonstrated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risk exposure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minimal volatility, near-zero beta, and consistent positive returns across all periods.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82000" y="1079500"/>
            <a:ext cx="349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1079500"/>
            <a:ext cx="3492500" cy="6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17" name="Shape 15"/>
          <p:cNvSpPr/>
          <p:nvPr/>
        </p:nvSpPr>
        <p:spPr>
          <a:xfrm>
            <a:off x="8636000" y="133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18034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Sharpe Ratio Variability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36000" y="22606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Rolling Sharpe Ratios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 significantly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schemes, ranging from 0.45 to 2.15, indicating wide dispersion in risk-adjusted performance.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255500" y="1079500"/>
            <a:ext cx="34925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5500" y="1079500"/>
            <a:ext cx="3492500" cy="63500"/>
          </a:xfrm>
          <a:prstGeom prst="rect">
            <a:avLst/>
          </a:prstGeom>
          <a:solidFill>
            <a:srgbClr val="0A1C3D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09500" y="133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0A1C3D"/>
          </a:solidFill>
          <a:ln/>
        </p:spPr>
      </p:sp>
      <p:sp>
        <p:nvSpPr>
          <p:cNvPr id="23" name="Text 21"/>
          <p:cNvSpPr/>
          <p:nvPr/>
        </p:nvSpPr>
        <p:spPr>
          <a:xfrm>
            <a:off x="12509500" y="18034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 Cohort Dominance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509500" y="22606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investor cohort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contributed the largest investment volume at 34% of total AUM, driven by post-pandemic retail participation.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000" y="4635500"/>
            <a:ext cx="4826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000" y="4635500"/>
            <a:ext cx="4826000" cy="6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889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" y="53594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SIP Investor At-Risk Alert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9000" y="60706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Approximately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98% of SIP investors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were identified as "At Risk" based on discontinuation probability models, signaling urgent retention focus.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42000" y="4635500"/>
            <a:ext cx="4826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42000" y="4635500"/>
            <a:ext cx="4826000" cy="635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33" name="Text 31"/>
          <p:cNvSpPr/>
          <p:nvPr/>
        </p:nvSpPr>
        <p:spPr>
          <a:xfrm>
            <a:off x="6096000" y="53594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Portfolio Concentration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096000" y="58166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equity portfolios were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diversified to moderately concentrated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HHI scores between 0.12 and 0.35, indicating reasonable sector spread.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049000" y="4635500"/>
            <a:ext cx="4699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49000" y="4635500"/>
            <a:ext cx="4699000" cy="63500"/>
          </a:xfrm>
          <a:prstGeom prst="rect">
            <a:avLst/>
          </a:prstGeom>
          <a:solidFill>
            <a:srgbClr val="1E5AA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03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38" name="Text 36"/>
          <p:cNvSpPr/>
          <p:nvPr/>
        </p:nvSpPr>
        <p:spPr>
          <a:xfrm>
            <a:off x="11303000" y="535940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Recommendation Engine Success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303000" y="58166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engine </a:t>
            </a: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identified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top-performing schemes based on investor risk appetite, achieving 87% accuracy in backtesting.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000" y="8128000"/>
            <a:ext cx="14986000" cy="0"/>
          </a:xfrm>
          <a:prstGeom prst="straightConnector1">
            <a:avLst/>
          </a:prstGeom>
          <a:noFill/>
          <a:ln w="1270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A8B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Bluestock Analytics Findings Report, June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B2D5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318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Presenter: </a:t>
            </a: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ROHIT J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5588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Bluestock Internship Program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1524000"/>
            <a:ext cx="838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Conclusion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0" y="2095500"/>
            <a:ext cx="3810000" cy="0"/>
          </a:xfrm>
          <a:prstGeom prst="straightConnector1">
            <a:avLst/>
          </a:prstGeom>
          <a:noFill/>
          <a:ln w="25400">
            <a:solidFill>
              <a:srgbClr val="0B2D5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858000" y="2349500"/>
            <a:ext cx="838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r>
              <a:rPr lang="en-US" sz="15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Bluestock Mutual Fund Analytics Project</a:t>
            </a:r>
            <a:r>
              <a:rPr lang="en-US" sz="1500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successfully integrated data engineering, financial analytics, and business intelligence techniques to build a comprehensive mutual fund decision-support framework.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B2D5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4546600"/>
            <a:ext cx="2540000" cy="635000"/>
          </a:xfrm>
          <a:prstGeom prst="rect">
            <a:avLst/>
          </a:prstGeom>
          <a:solidFill>
            <a:srgbClr val="EDF1F8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8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21" y="119360"/>
                </a:moveTo>
                <a:cubicBezTo>
                  <a:pt x="293982" y="100965"/>
                  <a:pt x="284049" y="87094"/>
                  <a:pt x="262890" y="87094"/>
                </a:cubicBezTo>
                <a:lnTo>
                  <a:pt x="235608" y="87094"/>
                </a:lnTo>
                <a:lnTo>
                  <a:pt x="235608" y="115312"/>
                </a:lnTo>
                <a:cubicBezTo>
                  <a:pt x="235608" y="137220"/>
                  <a:pt x="214381" y="155674"/>
                  <a:pt x="190160" y="155674"/>
                </a:cubicBezTo>
                <a:lnTo>
                  <a:pt x="117498" y="155674"/>
                </a:lnTo>
                <a:cubicBezTo>
                  <a:pt x="97631" y="155674"/>
                  <a:pt x="81167" y="170557"/>
                  <a:pt x="81167" y="188000"/>
                </a:cubicBezTo>
                <a:lnTo>
                  <a:pt x="81167" y="248603"/>
                </a:lnTo>
                <a:cubicBezTo>
                  <a:pt x="81167" y="265867"/>
                  <a:pt x="98312" y="275987"/>
                  <a:pt x="117498" y="280928"/>
                </a:cubicBezTo>
                <a:cubicBezTo>
                  <a:pt x="140494" y="286822"/>
                  <a:pt x="162605" y="287893"/>
                  <a:pt x="190160" y="280928"/>
                </a:cubicBezTo>
                <a:cubicBezTo>
                  <a:pt x="208461" y="276285"/>
                  <a:pt x="226491" y="266938"/>
                  <a:pt x="226491" y="248603"/>
                </a:cubicBezTo>
                <a:lnTo>
                  <a:pt x="226491" y="224373"/>
                </a:lnTo>
                <a:lnTo>
                  <a:pt x="153897" y="224373"/>
                </a:lnTo>
                <a:lnTo>
                  <a:pt x="153897" y="216277"/>
                </a:lnTo>
                <a:lnTo>
                  <a:pt x="262890" y="216277"/>
                </a:lnTo>
                <a:cubicBezTo>
                  <a:pt x="284049" y="216277"/>
                  <a:pt x="291873" y="203359"/>
                  <a:pt x="299221" y="184011"/>
                </a:cubicBezTo>
                <a:cubicBezTo>
                  <a:pt x="306841" y="164068"/>
                  <a:pt x="306501" y="144899"/>
                  <a:pt x="299221" y="119360"/>
                </a:cubicBezTo>
                <a:close/>
                <a:moveTo>
                  <a:pt x="194718" y="264735"/>
                </a:moveTo>
                <a:cubicBezTo>
                  <a:pt x="189540" y="265053"/>
                  <a:pt x="184592" y="262816"/>
                  <a:pt x="181893" y="258937"/>
                </a:cubicBezTo>
                <a:cubicBezTo>
                  <a:pt x="179193" y="255057"/>
                  <a:pt x="179193" y="250184"/>
                  <a:pt x="181893" y="246305"/>
                </a:cubicBezTo>
                <a:cubicBezTo>
                  <a:pt x="184592" y="242425"/>
                  <a:pt x="189540" y="240188"/>
                  <a:pt x="194718" y="240506"/>
                </a:cubicBezTo>
                <a:cubicBezTo>
                  <a:pt x="199896" y="240188"/>
                  <a:pt x="204844" y="242425"/>
                  <a:pt x="207544" y="246305"/>
                </a:cubicBezTo>
                <a:cubicBezTo>
                  <a:pt x="210244" y="250184"/>
                  <a:pt x="210244" y="255057"/>
                  <a:pt x="207544" y="258937"/>
                </a:cubicBezTo>
                <a:cubicBezTo>
                  <a:pt x="204844" y="262816"/>
                  <a:pt x="199896" y="265053"/>
                  <a:pt x="194718" y="264735"/>
                </a:cubicBezTo>
                <a:close/>
                <a:moveTo>
                  <a:pt x="114164" y="147697"/>
                </a:moveTo>
                <a:lnTo>
                  <a:pt x="186826" y="147697"/>
                </a:lnTo>
                <a:cubicBezTo>
                  <a:pt x="207033" y="147697"/>
                  <a:pt x="223157" y="133112"/>
                  <a:pt x="223157" y="115372"/>
                </a:cubicBezTo>
                <a:lnTo>
                  <a:pt x="223157" y="54709"/>
                </a:lnTo>
                <a:cubicBezTo>
                  <a:pt x="223157" y="37445"/>
                  <a:pt x="206556" y="24527"/>
                  <a:pt x="186826" y="21610"/>
                </a:cubicBezTo>
                <a:cubicBezTo>
                  <a:pt x="162469" y="18098"/>
                  <a:pt x="136003" y="18276"/>
                  <a:pt x="114164" y="21669"/>
                </a:cubicBezTo>
                <a:cubicBezTo>
                  <a:pt x="83412" y="26432"/>
                  <a:pt x="77833" y="36374"/>
                  <a:pt x="77833" y="54769"/>
                </a:cubicBezTo>
                <a:lnTo>
                  <a:pt x="77833" y="78998"/>
                </a:lnTo>
                <a:lnTo>
                  <a:pt x="150563" y="78998"/>
                </a:lnTo>
                <a:lnTo>
                  <a:pt x="150563" y="87094"/>
                </a:lnTo>
                <a:lnTo>
                  <a:pt x="50551" y="87094"/>
                </a:lnTo>
                <a:cubicBezTo>
                  <a:pt x="29391" y="87094"/>
                  <a:pt x="10886" y="98227"/>
                  <a:pt x="5103" y="119360"/>
                </a:cubicBezTo>
                <a:cubicBezTo>
                  <a:pt x="-1565" y="143589"/>
                  <a:pt x="-1837" y="158710"/>
                  <a:pt x="5103" y="184011"/>
                </a:cubicBezTo>
                <a:cubicBezTo>
                  <a:pt x="10273" y="202823"/>
                  <a:pt x="22588" y="216277"/>
                  <a:pt x="43747" y="216277"/>
                </a:cubicBezTo>
                <a:lnTo>
                  <a:pt x="68716" y="216277"/>
                </a:lnTo>
                <a:lnTo>
                  <a:pt x="68716" y="187226"/>
                </a:lnTo>
                <a:cubicBezTo>
                  <a:pt x="68716" y="166211"/>
                  <a:pt x="89467" y="147697"/>
                  <a:pt x="114164" y="147697"/>
                </a:cubicBezTo>
                <a:close/>
                <a:moveTo>
                  <a:pt x="109674" y="38517"/>
                </a:moveTo>
                <a:cubicBezTo>
                  <a:pt x="117334" y="38517"/>
                  <a:pt x="123553" y="43958"/>
                  <a:pt x="123553" y="50661"/>
                </a:cubicBezTo>
                <a:cubicBezTo>
                  <a:pt x="123553" y="57364"/>
                  <a:pt x="117334" y="62805"/>
                  <a:pt x="109674" y="62805"/>
                </a:cubicBezTo>
                <a:cubicBezTo>
                  <a:pt x="102013" y="62805"/>
                  <a:pt x="95794" y="57364"/>
                  <a:pt x="95794" y="50661"/>
                </a:cubicBezTo>
                <a:cubicBezTo>
                  <a:pt x="95794" y="43958"/>
                  <a:pt x="102013" y="38517"/>
                  <a:pt x="109674" y="38517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3" name="Text 11"/>
          <p:cNvSpPr/>
          <p:nvPr/>
        </p:nvSpPr>
        <p:spPr>
          <a:xfrm>
            <a:off x="7429500" y="45466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Programming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52000" y="4546600"/>
            <a:ext cx="2540000" cy="635000"/>
          </a:xfrm>
          <a:prstGeom prst="rect">
            <a:avLst/>
          </a:prstGeom>
          <a:solidFill>
            <a:srgbClr val="EDF1F8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42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85725" y="133350"/>
                </a:moveTo>
                <a:cubicBezTo>
                  <a:pt x="96262" y="133350"/>
                  <a:pt x="104775" y="141863"/>
                  <a:pt x="104775" y="152400"/>
                </a:cubicBezTo>
                <a:lnTo>
                  <a:pt x="104775" y="190500"/>
                </a:lnTo>
                <a:cubicBezTo>
                  <a:pt x="104775" y="201037"/>
                  <a:pt x="96262" y="209550"/>
                  <a:pt x="85725" y="209550"/>
                </a:cubicBezTo>
                <a:cubicBezTo>
                  <a:pt x="75188" y="209550"/>
                  <a:pt x="66675" y="201037"/>
                  <a:pt x="66675" y="190500"/>
                </a:cubicBezTo>
                <a:lnTo>
                  <a:pt x="66675" y="152400"/>
                </a:lnTo>
                <a:cubicBezTo>
                  <a:pt x="66675" y="141863"/>
                  <a:pt x="75188" y="133350"/>
                  <a:pt x="85725" y="133350"/>
                </a:cubicBezTo>
                <a:close/>
                <a:moveTo>
                  <a:pt x="171450" y="95250"/>
                </a:moveTo>
                <a:lnTo>
                  <a:pt x="171450" y="190500"/>
                </a:lnTo>
                <a:cubicBezTo>
                  <a:pt x="171450" y="201037"/>
                  <a:pt x="162937" y="209550"/>
                  <a:pt x="152400" y="209550"/>
                </a:cubicBezTo>
                <a:cubicBezTo>
                  <a:pt x="141863" y="209550"/>
                  <a:pt x="133350" y="201037"/>
                  <a:pt x="133350" y="19050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19075" y="114300"/>
                </a:moveTo>
                <a:cubicBezTo>
                  <a:pt x="229612" y="114300"/>
                  <a:pt x="238125" y="122813"/>
                  <a:pt x="238125" y="133350"/>
                </a:cubicBezTo>
                <a:lnTo>
                  <a:pt x="238125" y="190500"/>
                </a:lnTo>
                <a:cubicBezTo>
                  <a:pt x="238125" y="201037"/>
                  <a:pt x="229612" y="209550"/>
                  <a:pt x="219075" y="209550"/>
                </a:cubicBezTo>
                <a:cubicBezTo>
                  <a:pt x="208538" y="209550"/>
                  <a:pt x="200025" y="201037"/>
                  <a:pt x="200025" y="190500"/>
                </a:cubicBezTo>
                <a:lnTo>
                  <a:pt x="200025" y="133350"/>
                </a:lnTo>
                <a:cubicBezTo>
                  <a:pt x="200025" y="122813"/>
                  <a:pt x="208538" y="114300"/>
                  <a:pt x="219075" y="114300"/>
                </a:cubicBezTo>
                <a:close/>
                <a:moveTo>
                  <a:pt x="304800" y="57150"/>
                </a:moveTo>
                <a:lnTo>
                  <a:pt x="304800" y="190500"/>
                </a:lnTo>
                <a:cubicBezTo>
                  <a:pt x="304800" y="201037"/>
                  <a:pt x="296287" y="209550"/>
                  <a:pt x="285750" y="209550"/>
                </a:cubicBezTo>
                <a:cubicBezTo>
                  <a:pt x="275213" y="209550"/>
                  <a:pt x="266700" y="201037"/>
                  <a:pt x="266700" y="190500"/>
                </a:cubicBezTo>
                <a:lnTo>
                  <a:pt x="266700" y="57150"/>
                </a:lnTo>
                <a:cubicBezTo>
                  <a:pt x="266700" y="46613"/>
                  <a:pt x="275213" y="38100"/>
                  <a:pt x="285750" y="38100"/>
                </a:cubicBezTo>
                <a:cubicBezTo>
                  <a:pt x="296287" y="38100"/>
                  <a:pt x="304800" y="46613"/>
                  <a:pt x="304800" y="57150"/>
                </a:cubicBez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23500" y="4546600"/>
            <a:ext cx="184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Analytics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446000" y="4546600"/>
            <a:ext cx="2540000" cy="635000"/>
          </a:xfrm>
          <a:prstGeom prst="rect">
            <a:avLst/>
          </a:prstGeom>
          <a:solidFill>
            <a:srgbClr val="EDF1F8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36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B2D5B"/>
          </a:solidFill>
          <a:ln/>
        </p:spPr>
      </p:sp>
      <p:sp>
        <p:nvSpPr>
          <p:cNvPr id="19" name="Text 17"/>
          <p:cNvSpPr/>
          <p:nvPr/>
        </p:nvSpPr>
        <p:spPr>
          <a:xfrm>
            <a:off x="13017500" y="4546600"/>
            <a:ext cx="184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Analytics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5435600"/>
            <a:ext cx="2540000" cy="635000"/>
          </a:xfrm>
          <a:prstGeom prst="rect">
            <a:avLst/>
          </a:prstGeom>
          <a:solidFill>
            <a:srgbClr val="EDF1F8"/>
          </a:solidFill>
          <a:ln w="12700">
            <a:solidFill>
              <a:srgbClr val="C8D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8500" y="558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1145" y="142875"/>
                </a:moveTo>
                <a:lnTo>
                  <a:pt x="178012" y="142875"/>
                </a:lnTo>
                <a:cubicBezTo>
                  <a:pt x="168645" y="142875"/>
                  <a:pt x="161078" y="134362"/>
                  <a:pt x="161078" y="123825"/>
                </a:cubicBezTo>
                <a:lnTo>
                  <a:pt x="161078" y="19050"/>
                </a:lnTo>
                <a:cubicBezTo>
                  <a:pt x="161078" y="8513"/>
                  <a:pt x="168698" y="-119"/>
                  <a:pt x="177959" y="1250"/>
                </a:cubicBezTo>
                <a:cubicBezTo>
                  <a:pt x="234580" y="9704"/>
                  <a:pt x="279453" y="60186"/>
                  <a:pt x="286967" y="123885"/>
                </a:cubicBezTo>
                <a:cubicBezTo>
                  <a:pt x="288184" y="134303"/>
                  <a:pt x="280511" y="142875"/>
                  <a:pt x="271145" y="142875"/>
                </a:cubicBezTo>
                <a:close/>
                <a:moveTo>
                  <a:pt x="117792" y="22146"/>
                </a:moveTo>
                <a:cubicBezTo>
                  <a:pt x="127370" y="19883"/>
                  <a:pt x="135678" y="28694"/>
                  <a:pt x="135678" y="39707"/>
                </a:cubicBezTo>
                <a:lnTo>
                  <a:pt x="135678" y="157163"/>
                </a:lnTo>
                <a:cubicBezTo>
                  <a:pt x="135678" y="160496"/>
                  <a:pt x="136737" y="163711"/>
                  <a:pt x="138589" y="166271"/>
                </a:cubicBezTo>
                <a:lnTo>
                  <a:pt x="208492" y="261164"/>
                </a:lnTo>
                <a:cubicBezTo>
                  <a:pt x="214683" y="269558"/>
                  <a:pt x="213360" y="282238"/>
                  <a:pt x="204840" y="287417"/>
                </a:cubicBezTo>
                <a:cubicBezTo>
                  <a:pt x="186796" y="298490"/>
                  <a:pt x="166105" y="304800"/>
                  <a:pt x="144145" y="304800"/>
                </a:cubicBezTo>
                <a:cubicBezTo>
                  <a:pt x="74030" y="304800"/>
                  <a:pt x="17145" y="240804"/>
                  <a:pt x="17145" y="161925"/>
                </a:cubicBezTo>
                <a:cubicBezTo>
                  <a:pt x="17145" y="93166"/>
                  <a:pt x="60272" y="35778"/>
                  <a:pt x="117792" y="22146"/>
                </a:cubicBezTo>
                <a:close/>
                <a:moveTo>
                  <a:pt x="252836" y="171450"/>
                </a:moveTo>
                <a:lnTo>
                  <a:pt x="286702" y="171450"/>
                </a:lnTo>
                <a:cubicBezTo>
                  <a:pt x="296492" y="171450"/>
                  <a:pt x="304324" y="180796"/>
                  <a:pt x="302313" y="191572"/>
                </a:cubicBezTo>
                <a:cubicBezTo>
                  <a:pt x="296915" y="220385"/>
                  <a:pt x="283792" y="245983"/>
                  <a:pt x="265483" y="265509"/>
                </a:cubicBezTo>
                <a:cubicBezTo>
                  <a:pt x="258974" y="272475"/>
                  <a:pt x="248761" y="270986"/>
                  <a:pt x="243046" y="263188"/>
                </a:cubicBezTo>
                <a:lnTo>
                  <a:pt x="198385" y="202644"/>
                </a:lnTo>
                <a:cubicBezTo>
                  <a:pt x="189230" y="190202"/>
                  <a:pt x="197115" y="171450"/>
                  <a:pt x="211402" y="171450"/>
                </a:cubicBezTo>
                <a:lnTo>
                  <a:pt x="252783" y="171450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7429500" y="54356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1A1A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 Dashboards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96000" y="9067800"/>
            <a:ext cx="10160000" cy="76200"/>
          </a:xfrm>
          <a:prstGeom prst="rect">
            <a:avLst/>
          </a:prstGeom>
          <a:solidFill>
            <a:srgbClr val="0B2D5B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1581</Words>
  <Application>Microsoft Office PowerPoint</Application>
  <PresentationFormat>Custom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Liter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 Project</dc:title>
  <dc:subject>Bluestock Mutual Fund Analytics Capstone Project</dc:subject>
  <dc:creator>Kimi</dc:creator>
  <cp:lastModifiedBy>Rohit John</cp:lastModifiedBy>
  <cp:revision>2</cp:revision>
  <dcterms:created xsi:type="dcterms:W3CDTF">2026-06-11T10:56:15Z</dcterms:created>
  <dcterms:modified xsi:type="dcterms:W3CDTF">2026-06-11T11:11:53Z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{"Label":"Bluestock Mutual Fund Analytics Capstone Project","ContentProducer":"001191110108MACG2KBH8F10000","ProduceID":"19eb6474-c7d2-8300-8000-00006a993d17","ReservedCode1":"","ContentPropagator":"001191110108MACG2KBH8F20000","PropagateID":"19eb6459-2a52-83b4-8000-097eb7c545d8","ReservedCode2":""}</vt:lpwstr>
  </property>
</Properties>
</file>